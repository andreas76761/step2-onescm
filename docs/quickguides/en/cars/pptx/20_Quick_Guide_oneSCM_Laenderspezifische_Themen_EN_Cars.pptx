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9906000" cy="6858000"/>
  <p:notesSz cx="6858000" cy="9906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Country-Specific Topics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for Cars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Note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This Quick Guide summarizes Chapter 20 of the oneSCM handbook. Details, screenshots and evidence can be found in the handbook.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AS OF: 2026-10-11 | 1/2</a:t>
            </a:r>
            <a:endParaRPr lang="en-US" sz="700" dirty="0"/>
          </a:p>
        </p:txBody>
      </p:sp>
      <p:sp>
        <p:nvSpPr>
          <p:cNvPr id="8" name="Purpose and benefit"/>
          <p:cNvSpPr/>
          <p:nvPr/>
        </p:nvSpPr>
        <p:spPr>
          <a:xfrm>
            <a:off x="201168" y="713232"/>
            <a:ext cx="4663440" cy="1581912"/>
          </a:xfrm>
          <a:prstGeom prst="roundRect">
            <a:avLst>
              <a:gd name="adj" fmla="val 5780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2633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Purpose and benefit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2633472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You read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country and market profile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know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local roles and access variants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local products, prices and campaigns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payment, documents and signature per country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country-specific go-live and migration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as well as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country deviation register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(Chapter 20.1 to 20.6).</a:t>
            </a:r>
            <a:endParaRPr lang="en-US" sz="900" dirty="0"/>
          </a:p>
        </p:txBody>
      </p:sp>
      <p:pic>
        <p:nvPicPr>
          <p:cNvPr id="11" name="Kapitelbild" descr="/tmp/claude-0/-home-user-step2-oneSCM/768b354c-b2c6-524c-b102-2abaf010b0fe/scratchpad/qg/src/img_en/badge_20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35808" y="804672"/>
            <a:ext cx="1737360" cy="1051560"/>
          </a:xfrm>
          <a:prstGeom prst="rect">
            <a:avLst/>
          </a:prstGeom>
        </p:spPr>
      </p:pic>
      <p:sp>
        <p:nvSpPr>
          <p:cNvPr id="12" name="Hinweis"/>
          <p:cNvSpPr txBox="1"/>
          <p:nvPr/>
        </p:nvSpPr>
        <p:spPr>
          <a:xfrm>
            <a:off x="201168" y="2404872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This document is interactive – references to handbook chapters and systems are provided as links.</a:t>
            </a:r>
            <a:endParaRPr lang="en-US" sz="900" dirty="0"/>
          </a:p>
        </p:txBody>
      </p:sp>
      <p:sp>
        <p:nvSpPr>
          <p:cNvPr id="13" name="Überblick Titel"/>
          <p:cNvSpPr txBox="1"/>
          <p:nvPr/>
        </p:nvSpPr>
        <p:spPr>
          <a:xfrm>
            <a:off x="201168" y="2843784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Topics at a glance</a:t>
            </a:r>
            <a:endParaRPr lang="en-US" sz="1100" dirty="0"/>
          </a:p>
        </p:txBody>
      </p:sp>
      <p:sp>
        <p:nvSpPr>
          <p:cNvPr id="14" name="Überblick Spalte"/>
          <p:cNvSpPr txBox="1"/>
          <p:nvPr/>
        </p:nvSpPr>
        <p:spPr>
          <a:xfrm>
            <a:off x="201168" y="3118104"/>
            <a:ext cx="22402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20.1 – 20.3 Profile and products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Country and market profile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Local roles and access variants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Local products, prices and campaigns</a:t>
            </a:r>
            <a:endParaRPr lang="en-US" sz="900" dirty="0"/>
          </a:p>
        </p:txBody>
      </p:sp>
      <p:sp>
        <p:nvSpPr>
          <p:cNvPr id="15" name="Überblick Spalte"/>
          <p:cNvSpPr txBox="1"/>
          <p:nvPr/>
        </p:nvSpPr>
        <p:spPr>
          <a:xfrm>
            <a:off x="2624328" y="3118104"/>
            <a:ext cx="22402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20.4 – 20.6 Processing and quality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Payment, documents and signature per country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Country-specific go-live and migration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Country deviation register and quality</a:t>
            </a:r>
            <a:endParaRPr lang="en-US" sz="900" dirty="0"/>
          </a:p>
        </p:txBody>
      </p:sp>
      <p:pic>
        <p:nvPicPr>
          <p:cNvPr id="16" name="Prozessbild" descr="/tmp/claude-0/-home-user-step2-oneSCM/768b354c-b2c6-524c-b102-2abaf010b0fe/scratchpad/qg/src/img_en/landscape_20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1168" y="4123944"/>
            <a:ext cx="4663440" cy="1207008"/>
          </a:xfrm>
          <a:prstGeom prst="rect">
            <a:avLst/>
          </a:prstGeom>
        </p:spPr>
      </p:pic>
      <p:pic>
        <p:nvPicPr>
          <p:cNvPr id="17" name="Prozessbild" descr="/tmp/claude-0/-home-user-step2-oneSCM/768b354c-b2c6-524c-b102-2abaf010b0fe/scratchpad/qg/src/img_en/flow_20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47488" y="713232"/>
            <a:ext cx="4663440" cy="1508760"/>
          </a:xfrm>
          <a:prstGeom prst="rect">
            <a:avLst/>
          </a:prstGeom>
        </p:spPr>
      </p:pic>
      <p:sp>
        <p:nvSpPr>
          <p:cNvPr id="18" name="Abschnittstitel"/>
          <p:cNvSpPr txBox="1"/>
          <p:nvPr/>
        </p:nvSpPr>
        <p:spPr>
          <a:xfrm>
            <a:off x="5047488" y="2331720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How to proceed</a:t>
            </a:r>
            <a:endParaRPr lang="en-US" sz="1100" dirty="0"/>
          </a:p>
        </p:txBody>
      </p:sp>
      <p:sp>
        <p:nvSpPr>
          <p:cNvPr id="19" name="Schritte"/>
          <p:cNvSpPr txBox="1"/>
          <p:nvPr/>
        </p:nvSpPr>
        <p:spPr>
          <a:xfrm>
            <a:off x="5065776" y="2606040"/>
            <a:ext cx="464515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Read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country and market profile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of your country (20.1).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2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Check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local roles and access variants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(20.2) against Chapter 2.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3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Observe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local products, prices and campaigns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(20.3) and their maintenance by the Market (Chapter 14).</a:t>
            </a:r>
            <a:endParaRPr lang="en-US" sz="900" dirty="0"/>
          </a:p>
        </p:txBody>
      </p:sp>
      <p:sp>
        <p:nvSpPr>
          <p:cNvPr id="20" name="Warnhinweis"/>
          <p:cNvSpPr/>
          <p:nvPr/>
        </p:nvSpPr>
        <p:spPr>
          <a:xfrm>
            <a:off x="5047488" y="3465576"/>
            <a:ext cx="4663440" cy="475488"/>
          </a:xfrm>
          <a:prstGeom prst="roundRect">
            <a:avLst>
              <a:gd name="adj" fmla="val 15385"/>
            </a:avLst>
          </a:prstGeom>
          <a:solidFill>
            <a:srgbClr val="FFE0E1"/>
          </a:solidFill>
          <a:ln w="12700">
            <a:solidFill>
              <a:srgbClr val="EF5F64"/>
            </a:solidFill>
            <a:prstDash val="solid"/>
          </a:ln>
        </p:spPr>
      </p:sp>
      <p:sp>
        <p:nvSpPr>
          <p:cNvPr id="21" name="Warnzeichen"/>
          <p:cNvSpPr txBox="1"/>
          <p:nvPr/>
        </p:nvSpPr>
        <p:spPr>
          <a:xfrm>
            <a:off x="5120640" y="3465576"/>
            <a:ext cx="274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F5F64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!</a:t>
            </a:r>
            <a:endParaRPr lang="en-US" sz="1600" dirty="0"/>
          </a:p>
        </p:txBody>
      </p:sp>
      <p:sp>
        <p:nvSpPr>
          <p:cNvPr id="22" name="Warntext"/>
          <p:cNvSpPr txBox="1"/>
          <p:nvPr/>
        </p:nvSpPr>
        <p:spPr>
          <a:xfrm>
            <a:off x="5458968" y="3465576"/>
            <a:ext cx="4160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Undocumented country deviations are not permitted.</a:t>
            </a:r>
            <a:r>
              <a:rPr lang="en-US" sz="900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In case of doubt, the Blueprint applies; deviations are added to the register via Market and HQ.</a:t>
            </a:r>
            <a:endParaRPr lang="en-US" sz="900" dirty="0"/>
          </a:p>
        </p:txBody>
      </p:sp>
      <p:sp>
        <p:nvSpPr>
          <p:cNvPr id="23" name="Schritte"/>
          <p:cNvSpPr txBox="1"/>
          <p:nvPr/>
        </p:nvSpPr>
        <p:spPr>
          <a:xfrm>
            <a:off x="5065776" y="4050792"/>
            <a:ext cx="4645152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4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Apply the country-specific rules for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payment, documents and signature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(20.4), e.g. language variants and permitted signature types.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5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Follow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go-live and migration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of your country (20.5, Chapters 17 and 18).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6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Check every deviation in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country deviation register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(20.6); only documented deviations apply.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Country-Specific Topics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for Cars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Note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This Quick Guide summarizes Chapter 20 of the oneSCM handbook. Details, screenshots and evidence can be found in the handbook.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AS OF: 2026-10-11 | 2/2</a:t>
            </a:r>
            <a:endParaRPr lang="en-US" sz="700" dirty="0"/>
          </a:p>
        </p:txBody>
      </p:sp>
      <p:sp>
        <p:nvSpPr>
          <p:cNvPr id="8" name="Roles and prerequisites"/>
          <p:cNvSpPr/>
          <p:nvPr/>
        </p:nvSpPr>
        <p:spPr>
          <a:xfrm>
            <a:off x="201168" y="713232"/>
            <a:ext cx="4663440" cy="2112264"/>
          </a:xfrm>
          <a:prstGeom prst="roundRect">
            <a:avLst>
              <a:gd name="adj" fmla="val 4329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Roles and prerequisites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4480560" cy="1709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Roles involved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Market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maintain country profile and deviation register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HQ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approve deviations (Chapter 15.3)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Dealer/MO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apply local rules</a:t>
            </a:r>
            <a:endParaRPr lang="en-US" sz="9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Prerequisites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Own country and market are known (Chapter 2.4)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Access to the country deviation register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Knowledge of the Blueprint (Chapter 15.2)</a:t>
            </a:r>
            <a:endParaRPr lang="en-US" sz="900" dirty="0"/>
          </a:p>
        </p:txBody>
      </p:sp>
      <p:sp>
        <p:nvSpPr>
          <p:cNvPr id="11" name="Checklist before completion"/>
          <p:cNvSpPr/>
          <p:nvPr/>
        </p:nvSpPr>
        <p:spPr>
          <a:xfrm>
            <a:off x="201168" y="2935224"/>
            <a:ext cx="4663440" cy="1197864"/>
          </a:xfrm>
          <a:prstGeom prst="roundRect">
            <a:avLst>
              <a:gd name="adj" fmla="val 7634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2" name="Kartentitel"/>
          <p:cNvSpPr txBox="1"/>
          <p:nvPr/>
        </p:nvSpPr>
        <p:spPr>
          <a:xfrm>
            <a:off x="310896" y="3008376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Checklist before completion</a:t>
            </a:r>
            <a:endParaRPr lang="en-US" sz="1100" dirty="0"/>
          </a:p>
        </p:txBody>
      </p:sp>
      <p:sp>
        <p:nvSpPr>
          <p:cNvPr id="13" name="Karteninhalt"/>
          <p:cNvSpPr txBox="1"/>
          <p:nvPr/>
        </p:nvSpPr>
        <p:spPr>
          <a:xfrm>
            <a:off x="310896" y="3282696"/>
            <a:ext cx="448056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Country profile read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Local roles and access checked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Local product and payment rules known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Deviations checked in the register</a:t>
            </a:r>
            <a:endParaRPr lang="en-US" sz="900" dirty="0"/>
          </a:p>
        </p:txBody>
      </p:sp>
      <p:sp>
        <p:nvSpPr>
          <p:cNvPr id="14" name="Notes and pitfalls"/>
          <p:cNvSpPr/>
          <p:nvPr/>
        </p:nvSpPr>
        <p:spPr>
          <a:xfrm>
            <a:off x="201168" y="4242816"/>
            <a:ext cx="4663440" cy="1170432"/>
          </a:xfrm>
          <a:prstGeom prst="roundRect">
            <a:avLst>
              <a:gd name="adj" fmla="val 7813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5" name="Kartentitel"/>
          <p:cNvSpPr txBox="1"/>
          <p:nvPr/>
        </p:nvSpPr>
        <p:spPr>
          <a:xfrm>
            <a:off x="310896" y="4315968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Notes and pitfalls</a:t>
            </a:r>
            <a:endParaRPr lang="en-US" sz="1100" dirty="0"/>
          </a:p>
        </p:txBody>
      </p:sp>
      <p:sp>
        <p:nvSpPr>
          <p:cNvPr id="16" name="Karteninhalt"/>
          <p:cNvSpPr txBox="1"/>
          <p:nvPr/>
        </p:nvSpPr>
        <p:spPr>
          <a:xfrm>
            <a:off x="310896" y="4590288"/>
            <a:ext cx="44805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For each deviation, the register contains reason, approval and validity.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Signature types and document languages may differ per country (Chapters 7.4 to 7.6).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Known errors with market reference are listed in Chapter 23.2.</a:t>
            </a:r>
            <a:endParaRPr lang="en-US" sz="900" dirty="0"/>
          </a:p>
        </p:txBody>
      </p:sp>
      <p:sp>
        <p:nvSpPr>
          <p:cNvPr id="17" name="FAQ"/>
          <p:cNvSpPr/>
          <p:nvPr/>
        </p:nvSpPr>
        <p:spPr>
          <a:xfrm>
            <a:off x="5047488" y="713232"/>
            <a:ext cx="4663440" cy="1261872"/>
          </a:xfrm>
          <a:prstGeom prst="roundRect">
            <a:avLst>
              <a:gd name="adj" fmla="val 7246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8" name="FAQ Inhalt"/>
          <p:cNvSpPr txBox="1"/>
          <p:nvPr/>
        </p:nvSpPr>
        <p:spPr>
          <a:xfrm>
            <a:off x="5157216" y="786384"/>
            <a:ext cx="4443984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Frequently asked questions and answers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Does my Quick Guide apply in every country?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The standard process does; country-specific deviations are in the country profile and register (20.1 and 20.6).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Who enters deviations?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The Market requests, HQ approves (15.3 and 20.6).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Which signature types exist in my country?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See Chapter 20.4 and the country profile.</a:t>
            </a:r>
            <a:endParaRPr lang="en-US" sz="900" dirty="0"/>
          </a:p>
        </p:txBody>
      </p:sp>
      <p:sp>
        <p:nvSpPr>
          <p:cNvPr id="19" name="Important links and contacts"/>
          <p:cNvSpPr/>
          <p:nvPr/>
        </p:nvSpPr>
        <p:spPr>
          <a:xfrm>
            <a:off x="5047488" y="2084832"/>
            <a:ext cx="4663440" cy="1636776"/>
          </a:xfrm>
          <a:prstGeom prst="roundRect">
            <a:avLst>
              <a:gd name="adj" fmla="val 5587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20" name="Kartentitel"/>
          <p:cNvSpPr txBox="1"/>
          <p:nvPr/>
        </p:nvSpPr>
        <p:spPr>
          <a:xfrm>
            <a:off x="5157216" y="215798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Important links and contacts</a:t>
            </a:r>
            <a:endParaRPr lang="en-US" sz="1100" dirty="0"/>
          </a:p>
        </p:txBody>
      </p:sp>
      <p:sp>
        <p:nvSpPr>
          <p:cNvPr id="21" name="Karteninhalt"/>
          <p:cNvSpPr txBox="1"/>
          <p:nvPr/>
        </p:nvSpPr>
        <p:spPr>
          <a:xfrm>
            <a:off x="5157216" y="2432304"/>
            <a:ext cx="44805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Country deviation register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Chapter 20.6.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oneSCM handbook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Complete chapters with screenshots, role, status and scope matrices (Appendix D).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FAQ and troubleshooting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Chapter 23 with questions per process phase and known errors per market and release.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Support and escalation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Report a support case with reference number, market, division and screenshot (Chapters 23.4 and 23.5).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oneSCM – Country-Specific Topics</dc:title>
  <dc:subject>PptxGenJS Presentation</dc:subject>
  <dc:creator>oneSCM Quick Guide</dc:creator>
  <cp:lastModifiedBy>oneSCM Quick Guide</cp:lastModifiedBy>
  <cp:revision>1</cp:revision>
  <dcterms:created xsi:type="dcterms:W3CDTF">2026-10-11T16:05:18Z</dcterms:created>
  <dcterms:modified xsi:type="dcterms:W3CDTF">2026-10-11T16:05:18Z</dcterms:modified>
</cp:coreProperties>
</file>