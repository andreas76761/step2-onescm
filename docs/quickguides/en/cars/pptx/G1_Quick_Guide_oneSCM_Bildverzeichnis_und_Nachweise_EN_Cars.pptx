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906000" cy="6858000"/>
  <p:notesSz cx="6858000" cy="9906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Hintergrund" descr="/tmp/claude-0/-home-user-step2-oneSCM/768b354c-b2c6-524c-b102-2abaf010b0fe/scratchpad/qg/src/stars_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sp>
        <p:nvSpPr>
          <p:cNvPr id="3" name="Titel"/>
          <p:cNvSpPr txBox="1"/>
          <p:nvPr/>
        </p:nvSpPr>
        <p:spPr>
          <a:xfrm>
            <a:off x="201168" y="128016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 – Appendix G.1: Figure Index and Evidence</a:t>
            </a:r>
            <a:endParaRPr lang="en-US" sz="2400" dirty="0"/>
          </a:p>
        </p:txBody>
      </p:sp>
      <p:pic>
        <p:nvPicPr>
          <p:cNvPr id="4" name="Logo Stern" descr="/tmp/claude-0/-home-user-step2-oneSCM/768b354c-b2c6-524c-b102-2abaf010b0fe/scratchpad/qg/src/st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640" y="118872"/>
            <a:ext cx="457200" cy="438912"/>
          </a:xfrm>
          <a:prstGeom prst="rect">
            <a:avLst/>
          </a:prstGeom>
        </p:spPr>
      </p:pic>
      <p:sp>
        <p:nvSpPr>
          <p:cNvPr id="5" name="Logo Text"/>
          <p:cNvSpPr txBox="1"/>
          <p:nvPr/>
        </p:nvSpPr>
        <p:spPr>
          <a:xfrm>
            <a:off x="9052560" y="109728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</a:t>
            </a:r>
            <a:endParaRPr lang="en-US" sz="140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1300" i="1" dirty="0">
                <a:solidFill>
                  <a:srgbClr val="B21E23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for Cars</a:t>
            </a:r>
            <a:endParaRPr lang="en-US" sz="1400" dirty="0"/>
          </a:p>
        </p:txBody>
      </p:sp>
      <p:sp>
        <p:nvSpPr>
          <p:cNvPr id="6" name="Fußzeile Hinweis"/>
          <p:cNvSpPr txBox="1"/>
          <p:nvPr/>
        </p:nvSpPr>
        <p:spPr>
          <a:xfrm>
            <a:off x="201168" y="6510528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Note</a:t>
            </a:r>
            <a:r>
              <a:rPr lang="en-US" sz="8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This Quick Guide summarizes Appendix G.1 of the oneSCM handbook. Details, screenshots and evidence can be found in the handbook.</a:t>
            </a:r>
            <a:endParaRPr lang="en-US" sz="800" dirty="0"/>
          </a:p>
        </p:txBody>
      </p:sp>
      <p:sp>
        <p:nvSpPr>
          <p:cNvPr id="7" name="Stand"/>
          <p:cNvSpPr txBox="1"/>
          <p:nvPr/>
        </p:nvSpPr>
        <p:spPr>
          <a:xfrm>
            <a:off x="7772400" y="651052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250" kern="0" dirty="0">
                <a:solidFill>
                  <a:srgbClr val="404040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AS OF: 2026-10-11 | 1/2</a:t>
            </a:r>
            <a:endParaRPr lang="en-US" sz="700" dirty="0"/>
          </a:p>
        </p:txBody>
      </p:sp>
      <p:sp>
        <p:nvSpPr>
          <p:cNvPr id="8" name="Purpose and benefit"/>
          <p:cNvSpPr/>
          <p:nvPr/>
        </p:nvSpPr>
        <p:spPr>
          <a:xfrm>
            <a:off x="201168" y="713232"/>
            <a:ext cx="4663440" cy="1280160"/>
          </a:xfrm>
          <a:prstGeom prst="roundRect">
            <a:avLst>
              <a:gd name="adj" fmla="val 7143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9" name="Kartentitel"/>
          <p:cNvSpPr txBox="1"/>
          <p:nvPr/>
        </p:nvSpPr>
        <p:spPr>
          <a:xfrm>
            <a:off x="310896" y="786384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Purpose and benefit</a:t>
            </a:r>
            <a:endParaRPr lang="en-US" sz="1100" dirty="0"/>
          </a:p>
        </p:txBody>
      </p:sp>
      <p:sp>
        <p:nvSpPr>
          <p:cNvPr id="10" name="Karteninhalt"/>
          <p:cNvSpPr txBox="1"/>
          <p:nvPr/>
        </p:nvSpPr>
        <p:spPr>
          <a:xfrm>
            <a:off x="310896" y="1060704"/>
            <a:ext cx="2633472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The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figure index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lists all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screenshots and graphics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of the handbook with chapter, system, release and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evidence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. This guide shows how figures are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found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,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checked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and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newly captured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.</a:t>
            </a:r>
            <a:endParaRPr lang="en-US" sz="900" dirty="0"/>
          </a:p>
        </p:txBody>
      </p:sp>
      <p:pic>
        <p:nvPicPr>
          <p:cNvPr id="11" name="Kapitelbild" descr="/tmp/claude-0/-home-user-step2-oneSCM/768b354c-b2c6-524c-b102-2abaf010b0fe/scratchpad/qg/src/img_en/badge_G1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35808" y="804672"/>
            <a:ext cx="1737360" cy="1051560"/>
          </a:xfrm>
          <a:prstGeom prst="rect">
            <a:avLst/>
          </a:prstGeom>
        </p:spPr>
      </p:pic>
      <p:sp>
        <p:nvSpPr>
          <p:cNvPr id="12" name="Hinweis"/>
          <p:cNvSpPr txBox="1"/>
          <p:nvPr/>
        </p:nvSpPr>
        <p:spPr>
          <a:xfrm>
            <a:off x="201168" y="2103120"/>
            <a:ext cx="4663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This document is interactive – references to handbook chapters and systems are provided as links.</a:t>
            </a:r>
            <a:endParaRPr lang="en-US" sz="900" dirty="0"/>
          </a:p>
        </p:txBody>
      </p:sp>
      <p:sp>
        <p:nvSpPr>
          <p:cNvPr id="13" name="Überblick Titel"/>
          <p:cNvSpPr txBox="1"/>
          <p:nvPr/>
        </p:nvSpPr>
        <p:spPr>
          <a:xfrm>
            <a:off x="201168" y="2542032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Contents at a glance</a:t>
            </a:r>
            <a:endParaRPr lang="en-US" sz="1100" dirty="0"/>
          </a:p>
        </p:txBody>
      </p:sp>
      <p:sp>
        <p:nvSpPr>
          <p:cNvPr id="14" name="Überblick Spalte"/>
          <p:cNvSpPr txBox="1"/>
          <p:nvPr/>
        </p:nvSpPr>
        <p:spPr>
          <a:xfrm>
            <a:off x="201168" y="2816352"/>
            <a:ext cx="22402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Index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Figure number, title, chapter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System and screen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Release and capture date</a:t>
            </a:r>
            <a:endParaRPr lang="en-US" sz="900" dirty="0"/>
          </a:p>
        </p:txBody>
      </p:sp>
      <p:sp>
        <p:nvSpPr>
          <p:cNvPr id="15" name="Überblick Spalte"/>
          <p:cNvSpPr txBox="1"/>
          <p:nvPr/>
        </p:nvSpPr>
        <p:spPr>
          <a:xfrm>
            <a:off x="2624328" y="2816352"/>
            <a:ext cx="22402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Evidence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Test environment or production system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Anonymized data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Approval by business department</a:t>
            </a:r>
            <a:endParaRPr lang="en-US" sz="900" dirty="0"/>
          </a:p>
        </p:txBody>
      </p:sp>
      <p:pic>
        <p:nvPicPr>
          <p:cNvPr id="16" name="Prozessbild" descr="/tmp/claude-0/-home-user-step2-oneSCM/768b354c-b2c6-524c-b102-2abaf010b0fe/scratchpad/qg/src/img_en/landscape_G1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1168" y="3822192"/>
            <a:ext cx="4663440" cy="1207008"/>
          </a:xfrm>
          <a:prstGeom prst="rect">
            <a:avLst/>
          </a:prstGeom>
        </p:spPr>
      </p:pic>
      <p:pic>
        <p:nvPicPr>
          <p:cNvPr id="17" name="Prozessbild" descr="/tmp/claude-0/-home-user-step2-oneSCM/768b354c-b2c6-524c-b102-2abaf010b0fe/scratchpad/qg/src/img_en/flow_G1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47488" y="713232"/>
            <a:ext cx="4663440" cy="960120"/>
          </a:xfrm>
          <a:prstGeom prst="rect">
            <a:avLst/>
          </a:prstGeom>
        </p:spPr>
      </p:pic>
      <p:sp>
        <p:nvSpPr>
          <p:cNvPr id="18" name="Abschnittstitel"/>
          <p:cNvSpPr txBox="1"/>
          <p:nvPr/>
        </p:nvSpPr>
        <p:spPr>
          <a:xfrm>
            <a:off x="5047488" y="1783080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How to proceed</a:t>
            </a:r>
            <a:endParaRPr lang="en-US" sz="1100" dirty="0"/>
          </a:p>
        </p:txBody>
      </p:sp>
      <p:sp>
        <p:nvSpPr>
          <p:cNvPr id="19" name="Schritte"/>
          <p:cNvSpPr txBox="1"/>
          <p:nvPr/>
        </p:nvSpPr>
        <p:spPr>
          <a:xfrm>
            <a:off x="5065776" y="2057400"/>
            <a:ext cx="464515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Find the figure in the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figure index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by number or chapter.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2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Check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release and date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A figure from an older release may differ from the current screen.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3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Check the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evidence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environment, anonymized data, approval.</a:t>
            </a:r>
            <a:endParaRPr lang="en-US" sz="900" dirty="0"/>
          </a:p>
        </p:txBody>
      </p:sp>
      <p:sp>
        <p:nvSpPr>
          <p:cNvPr id="20" name="Warnhinweis"/>
          <p:cNvSpPr/>
          <p:nvPr/>
        </p:nvSpPr>
        <p:spPr>
          <a:xfrm>
            <a:off x="5047488" y="2916936"/>
            <a:ext cx="4663440" cy="612648"/>
          </a:xfrm>
          <a:prstGeom prst="roundRect">
            <a:avLst>
              <a:gd name="adj" fmla="val 11940"/>
            </a:avLst>
          </a:prstGeom>
          <a:solidFill>
            <a:srgbClr val="FFE0E1"/>
          </a:solidFill>
          <a:ln w="12700">
            <a:solidFill>
              <a:srgbClr val="EF5F64"/>
            </a:solidFill>
            <a:prstDash val="solid"/>
          </a:ln>
        </p:spPr>
      </p:sp>
      <p:sp>
        <p:nvSpPr>
          <p:cNvPr id="21" name="Warnzeichen"/>
          <p:cNvSpPr txBox="1"/>
          <p:nvPr/>
        </p:nvSpPr>
        <p:spPr>
          <a:xfrm>
            <a:off x="5120640" y="2916936"/>
            <a:ext cx="27432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F5F64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!</a:t>
            </a:r>
            <a:endParaRPr lang="en-US" sz="1600" dirty="0"/>
          </a:p>
        </p:txBody>
      </p:sp>
      <p:sp>
        <p:nvSpPr>
          <p:cNvPr id="22" name="Warntext"/>
          <p:cNvSpPr txBox="1"/>
          <p:nvPr/>
        </p:nvSpPr>
        <p:spPr>
          <a:xfrm>
            <a:off x="5458968" y="2916936"/>
            <a:ext cx="416052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Screenshots with real customer, vehicle or bank data must not go into the handbook.</a:t>
            </a:r>
            <a:r>
              <a:rPr lang="en-US" sz="900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Use the test data catalog and redact any remaining data (Chapter 16.1).</a:t>
            </a:r>
            <a:endParaRPr lang="en-US" sz="900" dirty="0"/>
          </a:p>
        </p:txBody>
      </p:sp>
      <p:sp>
        <p:nvSpPr>
          <p:cNvPr id="23" name="Schritte"/>
          <p:cNvSpPr txBox="1"/>
          <p:nvPr/>
        </p:nvSpPr>
        <p:spPr>
          <a:xfrm>
            <a:off x="5065776" y="3639312"/>
            <a:ext cx="4645152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4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For a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new figure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capture the screen with test data (Appendix I.3), assign chapter and release, obtain approval.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5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Replace outdated figures and update the index (Chapter 16.6).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Hintergrund" descr="/tmp/claude-0/-home-user-step2-oneSCM/768b354c-b2c6-524c-b102-2abaf010b0fe/scratchpad/qg/src/stars_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sp>
        <p:nvSpPr>
          <p:cNvPr id="3" name="Titel"/>
          <p:cNvSpPr txBox="1"/>
          <p:nvPr/>
        </p:nvSpPr>
        <p:spPr>
          <a:xfrm>
            <a:off x="201168" y="128016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 – Appendix G.1: Figure Index and Evidence</a:t>
            </a:r>
            <a:endParaRPr lang="en-US" sz="2400" dirty="0"/>
          </a:p>
        </p:txBody>
      </p:sp>
      <p:pic>
        <p:nvPicPr>
          <p:cNvPr id="4" name="Logo Stern" descr="/tmp/claude-0/-home-user-step2-oneSCM/768b354c-b2c6-524c-b102-2abaf010b0fe/scratchpad/qg/src/st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640" y="118872"/>
            <a:ext cx="457200" cy="438912"/>
          </a:xfrm>
          <a:prstGeom prst="rect">
            <a:avLst/>
          </a:prstGeom>
        </p:spPr>
      </p:pic>
      <p:sp>
        <p:nvSpPr>
          <p:cNvPr id="5" name="Logo Text"/>
          <p:cNvSpPr txBox="1"/>
          <p:nvPr/>
        </p:nvSpPr>
        <p:spPr>
          <a:xfrm>
            <a:off x="9052560" y="109728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</a:t>
            </a:r>
            <a:endParaRPr lang="en-US" sz="140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1300" i="1" dirty="0">
                <a:solidFill>
                  <a:srgbClr val="B21E23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for Cars</a:t>
            </a:r>
            <a:endParaRPr lang="en-US" sz="1400" dirty="0"/>
          </a:p>
        </p:txBody>
      </p:sp>
      <p:sp>
        <p:nvSpPr>
          <p:cNvPr id="6" name="Fußzeile Hinweis"/>
          <p:cNvSpPr txBox="1"/>
          <p:nvPr/>
        </p:nvSpPr>
        <p:spPr>
          <a:xfrm>
            <a:off x="201168" y="6510528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Note</a:t>
            </a:r>
            <a:r>
              <a:rPr lang="en-US" sz="8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This Quick Guide summarizes Appendix G.1 of the oneSCM handbook. Details, screenshots and evidence can be found in the handbook.</a:t>
            </a:r>
            <a:endParaRPr lang="en-US" sz="800" dirty="0"/>
          </a:p>
        </p:txBody>
      </p:sp>
      <p:sp>
        <p:nvSpPr>
          <p:cNvPr id="7" name="Stand"/>
          <p:cNvSpPr txBox="1"/>
          <p:nvPr/>
        </p:nvSpPr>
        <p:spPr>
          <a:xfrm>
            <a:off x="7772400" y="651052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250" kern="0" dirty="0">
                <a:solidFill>
                  <a:srgbClr val="404040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AS OF: 2026-10-11 | 2/2</a:t>
            </a:r>
            <a:endParaRPr lang="en-US" sz="700" dirty="0"/>
          </a:p>
        </p:txBody>
      </p:sp>
      <p:sp>
        <p:nvSpPr>
          <p:cNvPr id="8" name="Roles and prerequisites"/>
          <p:cNvSpPr/>
          <p:nvPr/>
        </p:nvSpPr>
        <p:spPr>
          <a:xfrm>
            <a:off x="201168" y="713232"/>
            <a:ext cx="4663440" cy="2112264"/>
          </a:xfrm>
          <a:prstGeom prst="roundRect">
            <a:avLst>
              <a:gd name="adj" fmla="val 4329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9" name="Kartentitel"/>
          <p:cNvSpPr txBox="1"/>
          <p:nvPr/>
        </p:nvSpPr>
        <p:spPr>
          <a:xfrm>
            <a:off x="310896" y="786384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Roles and prerequisites</a:t>
            </a:r>
            <a:endParaRPr lang="en-US" sz="1100" dirty="0"/>
          </a:p>
        </p:txBody>
      </p:sp>
      <p:sp>
        <p:nvSpPr>
          <p:cNvPr id="10" name="Karteninhalt"/>
          <p:cNvSpPr txBox="1"/>
          <p:nvPr/>
        </p:nvSpPr>
        <p:spPr>
          <a:xfrm>
            <a:off x="310896" y="1060704"/>
            <a:ext cx="4480560" cy="1709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Roles involved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All roles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assign figures to a chapter and release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Editorial team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maintain figure index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Market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supply local figure variants</a:t>
            </a:r>
            <a:endParaRPr lang="en-US" sz="9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Prerequisites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Figure number or chapter known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Release the figure refers to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Safe sample data in the figure (Chapter 16.1)</a:t>
            </a:r>
            <a:endParaRPr lang="en-US" sz="900" dirty="0"/>
          </a:p>
        </p:txBody>
      </p:sp>
      <p:sp>
        <p:nvSpPr>
          <p:cNvPr id="11" name="Checklist before completion"/>
          <p:cNvSpPr/>
          <p:nvPr/>
        </p:nvSpPr>
        <p:spPr>
          <a:xfrm>
            <a:off x="201168" y="2935224"/>
            <a:ext cx="4663440" cy="1197864"/>
          </a:xfrm>
          <a:prstGeom prst="roundRect">
            <a:avLst>
              <a:gd name="adj" fmla="val 7634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12" name="Kartentitel"/>
          <p:cNvSpPr txBox="1"/>
          <p:nvPr/>
        </p:nvSpPr>
        <p:spPr>
          <a:xfrm>
            <a:off x="310896" y="3008376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Checklist before completion</a:t>
            </a:r>
            <a:endParaRPr lang="en-US" sz="1100" dirty="0"/>
          </a:p>
        </p:txBody>
      </p:sp>
      <p:sp>
        <p:nvSpPr>
          <p:cNvPr id="13" name="Karteninhalt"/>
          <p:cNvSpPr txBox="1"/>
          <p:nvPr/>
        </p:nvSpPr>
        <p:spPr>
          <a:xfrm>
            <a:off x="310896" y="3282696"/>
            <a:ext cx="448056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Figure found and release checked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Evidence complete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Data anonymized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Index updated</a:t>
            </a:r>
            <a:endParaRPr lang="en-US" sz="900" dirty="0"/>
          </a:p>
        </p:txBody>
      </p:sp>
      <p:sp>
        <p:nvSpPr>
          <p:cNvPr id="14" name="Notes and pitfalls"/>
          <p:cNvSpPr/>
          <p:nvPr/>
        </p:nvSpPr>
        <p:spPr>
          <a:xfrm>
            <a:off x="201168" y="4242816"/>
            <a:ext cx="4663440" cy="1170432"/>
          </a:xfrm>
          <a:prstGeom prst="roundRect">
            <a:avLst>
              <a:gd name="adj" fmla="val 7813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15" name="Kartentitel"/>
          <p:cNvSpPr txBox="1"/>
          <p:nvPr/>
        </p:nvSpPr>
        <p:spPr>
          <a:xfrm>
            <a:off x="310896" y="4315968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Notes and pitfalls</a:t>
            </a:r>
            <a:endParaRPr lang="en-US" sz="1100" dirty="0"/>
          </a:p>
        </p:txBody>
      </p:sp>
      <p:sp>
        <p:nvSpPr>
          <p:cNvPr id="16" name="Karteninhalt"/>
          <p:cNvSpPr txBox="1"/>
          <p:nvPr/>
        </p:nvSpPr>
        <p:spPr>
          <a:xfrm>
            <a:off x="310896" y="4590288"/>
            <a:ext cx="44805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The Quick Guides contain process images; screenshots follow from the figure index.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Figures may differ per market (Chapter 20).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The index is part of the export (Chapter 16.5).</a:t>
            </a:r>
            <a:endParaRPr lang="en-US" sz="900" dirty="0"/>
          </a:p>
        </p:txBody>
      </p:sp>
      <p:sp>
        <p:nvSpPr>
          <p:cNvPr id="17" name="FAQ"/>
          <p:cNvSpPr/>
          <p:nvPr/>
        </p:nvSpPr>
        <p:spPr>
          <a:xfrm>
            <a:off x="5047488" y="713232"/>
            <a:ext cx="4663440" cy="1399032"/>
          </a:xfrm>
          <a:prstGeom prst="roundRect">
            <a:avLst>
              <a:gd name="adj" fmla="val 6536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18" name="FAQ Inhalt"/>
          <p:cNvSpPr txBox="1"/>
          <p:nvPr/>
        </p:nvSpPr>
        <p:spPr>
          <a:xfrm>
            <a:off x="5157216" y="786384"/>
            <a:ext cx="4443984" cy="1271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Frequently asked questions and answers</a:t>
            </a:r>
            <a:endParaRPr lang="en-US" sz="9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Where do the images in the Quick Guides come from?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Currently they are drawn process images; screenshots are added from the figure index.</a:t>
            </a:r>
            <a:endParaRPr lang="en-US" sz="9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May I use a screenshot from the production system?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Only with test data or fully anonymized and with approval (Chapter 16.1).</a:t>
            </a:r>
            <a:endParaRPr lang="en-US" sz="9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How do I report an outdated figure?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Via the clarification register with figure number and release (Appendix F).</a:t>
            </a:r>
            <a:endParaRPr lang="en-US" sz="900" dirty="0"/>
          </a:p>
        </p:txBody>
      </p:sp>
      <p:sp>
        <p:nvSpPr>
          <p:cNvPr id="19" name="Important links and contacts"/>
          <p:cNvSpPr/>
          <p:nvPr/>
        </p:nvSpPr>
        <p:spPr>
          <a:xfrm>
            <a:off x="5047488" y="2221992"/>
            <a:ext cx="4663440" cy="1490472"/>
          </a:xfrm>
          <a:prstGeom prst="roundRect">
            <a:avLst>
              <a:gd name="adj" fmla="val 6135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20" name="Kartentitel"/>
          <p:cNvSpPr txBox="1"/>
          <p:nvPr/>
        </p:nvSpPr>
        <p:spPr>
          <a:xfrm>
            <a:off x="5157216" y="2295144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Important links and contacts</a:t>
            </a:r>
            <a:endParaRPr lang="en-US" sz="1100" dirty="0"/>
          </a:p>
        </p:txBody>
      </p:sp>
      <p:sp>
        <p:nvSpPr>
          <p:cNvPr id="21" name="Karteninhalt"/>
          <p:cNvSpPr txBox="1"/>
          <p:nvPr/>
        </p:nvSpPr>
        <p:spPr>
          <a:xfrm>
            <a:off x="5157216" y="2569464"/>
            <a:ext cx="4480560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u="sng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Figure index and evidence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Appendix G.1.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u="sng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Test data catalog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Appendix I.3.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u="sng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oneSCM Handbook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Complete chapters with screenshots, role, status and scope matrices (Appendix D).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Support and escalation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Report a support case with reference number, market, division and screenshot (Chapters 23.4 and 23.5).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oneSCM – Appendix G.1: Figure Index and Evidence</dc:title>
  <dc:subject>PptxGenJS Presentation</dc:subject>
  <dc:creator>oneSCM Quick Guide</dc:creator>
  <cp:lastModifiedBy>oneSCM Quick Guide</cp:lastModifiedBy>
  <cp:revision>1</cp:revision>
  <dcterms:created xsi:type="dcterms:W3CDTF">2026-10-11T16:05:19Z</dcterms:created>
  <dcterms:modified xsi:type="dcterms:W3CDTF">2026-10-11T16:05:19Z</dcterms:modified>
</cp:coreProperties>
</file>