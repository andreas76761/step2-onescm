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906000" cy="6858000"/>
  <p:notesSz cx="6858000" cy="9906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intergrund" descr="/tmp/claude-0/-home-user-step2-oneSCM/768b354c-b2c6-524c-b102-2abaf010b0fe/scratchpad/qg/src/stars_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sp>
        <p:nvSpPr>
          <p:cNvPr id="3" name="Titel"/>
          <p:cNvSpPr txBox="1"/>
          <p:nvPr/>
        </p:nvSpPr>
        <p:spPr>
          <a:xfrm>
            <a:off x="201168" y="128016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 – T14-15: Linking Market Maintenance and Central Requirements</a:t>
            </a:r>
            <a:endParaRPr lang="en-US" sz="2400" dirty="0"/>
          </a:p>
        </p:txBody>
      </p:sp>
      <p:pic>
        <p:nvPicPr>
          <p:cNvPr id="4" name="Logo Stern" descr="/tmp/claude-0/-home-user-step2-oneSCM/768b354c-b2c6-524c-b102-2abaf010b0fe/scratchpad/qg/src/st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118872"/>
            <a:ext cx="457200" cy="438912"/>
          </a:xfrm>
          <a:prstGeom prst="rect">
            <a:avLst/>
          </a:prstGeom>
        </p:spPr>
      </p:pic>
      <p:sp>
        <p:nvSpPr>
          <p:cNvPr id="5" name="Logo Text"/>
          <p:cNvSpPr txBox="1"/>
          <p:nvPr/>
        </p:nvSpPr>
        <p:spPr>
          <a:xfrm>
            <a:off x="9052560" y="109728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</a:t>
            </a:r>
            <a:endParaRPr lang="en-US" sz="14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1300" i="1" dirty="0">
                <a:solidFill>
                  <a:srgbClr val="B21E23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for Cars</a:t>
            </a:r>
            <a:endParaRPr lang="en-US" sz="1400" dirty="0"/>
          </a:p>
        </p:txBody>
      </p:sp>
      <p:sp>
        <p:nvSpPr>
          <p:cNvPr id="6" name="Fußzeile Hinweis"/>
          <p:cNvSpPr txBox="1"/>
          <p:nvPr/>
        </p:nvSpPr>
        <p:spPr>
          <a:xfrm>
            <a:off x="201168" y="6510528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Note</a:t>
            </a:r>
            <a:r>
              <a:rPr lang="en-US" sz="8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This Quick Guide summarizes transition module T14-15 of the oneSCM handbook. Details, screenshots and evidence can be found in the handbook.</a:t>
            </a:r>
            <a:endParaRPr lang="en-US" sz="800" dirty="0"/>
          </a:p>
        </p:txBody>
      </p:sp>
      <p:sp>
        <p:nvSpPr>
          <p:cNvPr id="7" name="Stand"/>
          <p:cNvSpPr txBox="1"/>
          <p:nvPr/>
        </p:nvSpPr>
        <p:spPr>
          <a:xfrm>
            <a:off x="7772400" y="651052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250" kern="0" dirty="0">
                <a:solidFill>
                  <a:srgbClr val="404040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AS OF: 2026-10-11 | 1/2</a:t>
            </a:r>
            <a:endParaRPr lang="en-US" sz="700" dirty="0"/>
          </a:p>
        </p:txBody>
      </p:sp>
      <p:sp>
        <p:nvSpPr>
          <p:cNvPr id="8" name="Purpose and benefit"/>
          <p:cNvSpPr/>
          <p:nvPr/>
        </p:nvSpPr>
        <p:spPr>
          <a:xfrm>
            <a:off x="201168" y="713232"/>
            <a:ext cx="4663440" cy="1426464"/>
          </a:xfrm>
          <a:prstGeom prst="roundRect">
            <a:avLst>
              <a:gd name="adj" fmla="val 6410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9" name="Kartentitel"/>
          <p:cNvSpPr txBox="1"/>
          <p:nvPr/>
        </p:nvSpPr>
        <p:spPr>
          <a:xfrm>
            <a:off x="310896" y="786384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Purpose and benefit</a:t>
            </a:r>
            <a:endParaRPr lang="en-US" sz="1100" dirty="0"/>
          </a:p>
        </p:txBody>
      </p:sp>
      <p:sp>
        <p:nvSpPr>
          <p:cNvPr id="10" name="Karteninhalt"/>
          <p:cNvSpPr txBox="1"/>
          <p:nvPr/>
        </p:nvSpPr>
        <p:spPr>
          <a:xfrm>
            <a:off x="310896" y="1060704"/>
            <a:ext cx="263347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This module links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market maintenance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Chapter 14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) with the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central requirements of HQ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Chapter 15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). You know which maintenance decisions the market makes alone, which need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HQ approval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and how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country deviations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are requested.</a:t>
            </a:r>
            <a:endParaRPr lang="en-US" sz="900" dirty="0"/>
          </a:p>
        </p:txBody>
      </p:sp>
      <p:pic>
        <p:nvPicPr>
          <p:cNvPr id="11" name="Kapitelbild" descr="/tmp/claude-0/-home-user-step2-oneSCM/768b354c-b2c6-524c-b102-2abaf010b0fe/scratchpad/qg/src/img_en/badge_T14-15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35808" y="804672"/>
            <a:ext cx="1737360" cy="1051560"/>
          </a:xfrm>
          <a:prstGeom prst="rect">
            <a:avLst/>
          </a:prstGeom>
        </p:spPr>
      </p:pic>
      <p:sp>
        <p:nvSpPr>
          <p:cNvPr id="12" name="Hinweis"/>
          <p:cNvSpPr txBox="1"/>
          <p:nvPr/>
        </p:nvSpPr>
        <p:spPr>
          <a:xfrm>
            <a:off x="201168" y="2249424"/>
            <a:ext cx="4663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References to handbook chapters and systems are highlighted; e-mail addresses are provided as links.</a:t>
            </a:r>
            <a:endParaRPr lang="en-US" sz="900" dirty="0"/>
          </a:p>
        </p:txBody>
      </p:sp>
      <p:sp>
        <p:nvSpPr>
          <p:cNvPr id="13" name="Überblick Titel"/>
          <p:cNvSpPr txBox="1"/>
          <p:nvPr/>
        </p:nvSpPr>
        <p:spPr>
          <a:xfrm>
            <a:off x="201168" y="2688336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Transition at a glance</a:t>
            </a:r>
            <a:endParaRPr lang="en-US" sz="1100" dirty="0"/>
          </a:p>
        </p:txBody>
      </p:sp>
      <p:sp>
        <p:nvSpPr>
          <p:cNvPr id="14" name="Überblick Spalte"/>
          <p:cNvSpPr txBox="1"/>
          <p:nvPr/>
        </p:nvSpPr>
        <p:spPr>
          <a:xfrm>
            <a:off x="201168" y="2962656"/>
            <a:ext cx="224028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Market decides (Chapter 14)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Market-specific settings and templates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Price versions, campaigns, discounts within the Blueprint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Product Testing and publication</a:t>
            </a:r>
            <a:endParaRPr lang="en-US" sz="900" dirty="0"/>
          </a:p>
        </p:txBody>
      </p:sp>
      <p:sp>
        <p:nvSpPr>
          <p:cNvPr id="15" name="Überblick Spalte"/>
          <p:cNvSpPr txBox="1"/>
          <p:nvPr/>
        </p:nvSpPr>
        <p:spPr>
          <a:xfrm>
            <a:off x="2624328" y="2962656"/>
            <a:ext cx="224028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HQ decides (Chapter 15)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Blueprint and global standards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Country deviations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Technical options, SA matching, coverage codes</a:t>
            </a:r>
            <a:endParaRPr lang="en-US" sz="900" dirty="0"/>
          </a:p>
        </p:txBody>
      </p:sp>
      <p:pic>
        <p:nvPicPr>
          <p:cNvPr id="16" name="Prozessbild" descr="/tmp/claude-0/-home-user-step2-oneSCM/768b354c-b2c6-524c-b102-2abaf010b0fe/scratchpad/qg/src/img_en/landscape_T14-15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1168" y="4242816"/>
            <a:ext cx="4663440" cy="1207008"/>
          </a:xfrm>
          <a:prstGeom prst="rect">
            <a:avLst/>
          </a:prstGeom>
        </p:spPr>
      </p:pic>
      <p:pic>
        <p:nvPicPr>
          <p:cNvPr id="17" name="Prozessbild" descr="/tmp/claude-0/-home-user-step2-oneSCM/768b354c-b2c6-524c-b102-2abaf010b0fe/scratchpad/qg/src/img_en/flow_T14-15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47488" y="713232"/>
            <a:ext cx="4663440" cy="960120"/>
          </a:xfrm>
          <a:prstGeom prst="rect">
            <a:avLst/>
          </a:prstGeom>
        </p:spPr>
      </p:pic>
      <p:sp>
        <p:nvSpPr>
          <p:cNvPr id="18" name="Abschnittstitel"/>
          <p:cNvSpPr txBox="1"/>
          <p:nvPr/>
        </p:nvSpPr>
        <p:spPr>
          <a:xfrm>
            <a:off x="5047488" y="1783080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How to proceed</a:t>
            </a:r>
            <a:endParaRPr lang="en-US" sz="1100" dirty="0"/>
          </a:p>
        </p:txBody>
      </p:sp>
      <p:sp>
        <p:nvSpPr>
          <p:cNvPr id="19" name="Schritte"/>
          <p:cNvSpPr txBox="1"/>
          <p:nvPr/>
        </p:nvSpPr>
        <p:spPr>
          <a:xfrm>
            <a:off x="5065776" y="2057400"/>
            <a:ext cx="464515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Classify the planned change: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within the Blueprint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(market decides) or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deviation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(HQ approval required).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2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Prepare the change in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Product Testing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and secure test evidence (Chapters 14.12, 16.4).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3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Request a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country deviation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from HQ with justification (Chapter 15.3) and enter it in the register (Chapter 20.6).</a:t>
            </a:r>
            <a:endParaRPr lang="en-US" sz="900" dirty="0"/>
          </a:p>
        </p:txBody>
      </p:sp>
      <p:sp>
        <p:nvSpPr>
          <p:cNvPr id="20" name="Warnhinweis"/>
          <p:cNvSpPr/>
          <p:nvPr/>
        </p:nvSpPr>
        <p:spPr>
          <a:xfrm>
            <a:off x="5047488" y="3191256"/>
            <a:ext cx="4663440" cy="475488"/>
          </a:xfrm>
          <a:prstGeom prst="roundRect">
            <a:avLst>
              <a:gd name="adj" fmla="val 15385"/>
            </a:avLst>
          </a:prstGeom>
          <a:solidFill>
            <a:srgbClr val="FFE0E1"/>
          </a:solidFill>
          <a:ln w="12700">
            <a:solidFill>
              <a:srgbClr val="EF5F64"/>
            </a:solidFill>
            <a:prstDash val="solid"/>
          </a:ln>
        </p:spPr>
      </p:sp>
      <p:sp>
        <p:nvSpPr>
          <p:cNvPr id="21" name="Warnzeichen"/>
          <p:cNvSpPr txBox="1"/>
          <p:nvPr/>
        </p:nvSpPr>
        <p:spPr>
          <a:xfrm>
            <a:off x="5120640" y="3191256"/>
            <a:ext cx="274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F5F64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!</a:t>
            </a:r>
            <a:endParaRPr lang="en-US" sz="1600" dirty="0"/>
          </a:p>
        </p:txBody>
      </p:sp>
      <p:sp>
        <p:nvSpPr>
          <p:cNvPr id="22" name="Warntext"/>
          <p:cNvSpPr txBox="1"/>
          <p:nvPr/>
        </p:nvSpPr>
        <p:spPr>
          <a:xfrm>
            <a:off x="5458968" y="3191256"/>
            <a:ext cx="4160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No publication of a deviation before HQ approval.</a:t>
            </a:r>
            <a:r>
              <a:rPr lang="en-US" sz="900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Unapproved deviations count as a Blueprint violation and are withdrawn.</a:t>
            </a:r>
            <a:endParaRPr lang="en-US" sz="900" dirty="0"/>
          </a:p>
        </p:txBody>
      </p:sp>
      <p:sp>
        <p:nvSpPr>
          <p:cNvPr id="23" name="Schritte"/>
          <p:cNvSpPr txBox="1"/>
          <p:nvPr/>
        </p:nvSpPr>
        <p:spPr>
          <a:xfrm>
            <a:off x="5065776" y="3776472"/>
            <a:ext cx="46451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4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Await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HQ approval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before publishing (Chapters 14.7 and 15.4).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5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Inform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MO and dealers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about effective changes (Chapter 15.5).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intergrund" descr="/tmp/claude-0/-home-user-step2-oneSCM/768b354c-b2c6-524c-b102-2abaf010b0fe/scratchpad/qg/src/stars_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sp>
        <p:nvSpPr>
          <p:cNvPr id="3" name="Titel"/>
          <p:cNvSpPr txBox="1"/>
          <p:nvPr/>
        </p:nvSpPr>
        <p:spPr>
          <a:xfrm>
            <a:off x="201168" y="128016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 – T14-15: Linking Market Maintenance and Central Requirements</a:t>
            </a:r>
            <a:endParaRPr lang="en-US" sz="2400" dirty="0"/>
          </a:p>
        </p:txBody>
      </p:sp>
      <p:pic>
        <p:nvPicPr>
          <p:cNvPr id="4" name="Logo Stern" descr="/tmp/claude-0/-home-user-step2-oneSCM/768b354c-b2c6-524c-b102-2abaf010b0fe/scratchpad/qg/src/st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118872"/>
            <a:ext cx="457200" cy="438912"/>
          </a:xfrm>
          <a:prstGeom prst="rect">
            <a:avLst/>
          </a:prstGeom>
        </p:spPr>
      </p:pic>
      <p:sp>
        <p:nvSpPr>
          <p:cNvPr id="5" name="Logo Text"/>
          <p:cNvSpPr txBox="1"/>
          <p:nvPr/>
        </p:nvSpPr>
        <p:spPr>
          <a:xfrm>
            <a:off x="9052560" y="109728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</a:t>
            </a:r>
            <a:endParaRPr lang="en-US" sz="14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1300" i="1" dirty="0">
                <a:solidFill>
                  <a:srgbClr val="B21E23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for Cars</a:t>
            </a:r>
            <a:endParaRPr lang="en-US" sz="1400" dirty="0"/>
          </a:p>
        </p:txBody>
      </p:sp>
      <p:sp>
        <p:nvSpPr>
          <p:cNvPr id="6" name="Fußzeile Hinweis"/>
          <p:cNvSpPr txBox="1"/>
          <p:nvPr/>
        </p:nvSpPr>
        <p:spPr>
          <a:xfrm>
            <a:off x="201168" y="6510528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Note</a:t>
            </a:r>
            <a:r>
              <a:rPr lang="en-US" sz="8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This Quick Guide summarizes transition module T14-15 of the oneSCM handbook. Details, screenshots and evidence can be found in the handbook.</a:t>
            </a:r>
            <a:endParaRPr lang="en-US" sz="800" dirty="0"/>
          </a:p>
        </p:txBody>
      </p:sp>
      <p:sp>
        <p:nvSpPr>
          <p:cNvPr id="7" name="Stand"/>
          <p:cNvSpPr txBox="1"/>
          <p:nvPr/>
        </p:nvSpPr>
        <p:spPr>
          <a:xfrm>
            <a:off x="7772400" y="651052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250" kern="0" dirty="0">
                <a:solidFill>
                  <a:srgbClr val="404040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AS OF: 2026-10-11 | 2/2</a:t>
            </a:r>
            <a:endParaRPr lang="en-US" sz="700" dirty="0"/>
          </a:p>
        </p:txBody>
      </p:sp>
      <p:sp>
        <p:nvSpPr>
          <p:cNvPr id="8" name="Roles and prerequisites"/>
          <p:cNvSpPr/>
          <p:nvPr/>
        </p:nvSpPr>
        <p:spPr>
          <a:xfrm>
            <a:off x="201168" y="713232"/>
            <a:ext cx="4663440" cy="2112264"/>
          </a:xfrm>
          <a:prstGeom prst="roundRect">
            <a:avLst>
              <a:gd name="adj" fmla="val 4329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9" name="Kartentitel"/>
          <p:cNvSpPr txBox="1"/>
          <p:nvPr/>
        </p:nvSpPr>
        <p:spPr>
          <a:xfrm>
            <a:off x="310896" y="786384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Roles and prerequisites</a:t>
            </a:r>
            <a:endParaRPr lang="en-US" sz="1100" dirty="0"/>
          </a:p>
        </p:txBody>
      </p:sp>
      <p:sp>
        <p:nvSpPr>
          <p:cNvPr id="10" name="Karteninhalt"/>
          <p:cNvSpPr txBox="1"/>
          <p:nvPr/>
        </p:nvSpPr>
        <p:spPr>
          <a:xfrm>
            <a:off x="310896" y="1060704"/>
            <a:ext cx="4480560" cy="1709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Roles involved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Market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maintenance and request for deviation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HQ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Blueprint, approval, central master data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MO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feedback from review</a:t>
            </a:r>
            <a:endParaRPr lang="en-US" sz="9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Prerequisites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Market role with maintenance rights (Chapter 14.1)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Blueprint and country deviation register known (Chapters 15.2, 20.6)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Approval workflow clarified (Chapter 16.3)</a:t>
            </a:r>
            <a:endParaRPr lang="en-US" sz="900" dirty="0"/>
          </a:p>
        </p:txBody>
      </p:sp>
      <p:sp>
        <p:nvSpPr>
          <p:cNvPr id="11" name="Checklist before completion"/>
          <p:cNvSpPr/>
          <p:nvPr/>
        </p:nvSpPr>
        <p:spPr>
          <a:xfrm>
            <a:off x="201168" y="2935224"/>
            <a:ext cx="4663440" cy="1197864"/>
          </a:xfrm>
          <a:prstGeom prst="roundRect">
            <a:avLst>
              <a:gd name="adj" fmla="val 7634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12" name="Kartentitel"/>
          <p:cNvSpPr txBox="1"/>
          <p:nvPr/>
        </p:nvSpPr>
        <p:spPr>
          <a:xfrm>
            <a:off x="310896" y="3008376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Checklist before completion</a:t>
            </a:r>
            <a:endParaRPr lang="en-US" sz="1100" dirty="0"/>
          </a:p>
        </p:txBody>
      </p:sp>
      <p:sp>
        <p:nvSpPr>
          <p:cNvPr id="13" name="Karteninhalt"/>
          <p:cNvSpPr txBox="1"/>
          <p:nvPr/>
        </p:nvSpPr>
        <p:spPr>
          <a:xfrm>
            <a:off x="310896" y="3282696"/>
            <a:ext cx="448056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Change classified as Blueprint or deviation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Test evidence available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Deviation requested and registered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Approval awaited before publication</a:t>
            </a:r>
            <a:endParaRPr lang="en-US" sz="900" dirty="0"/>
          </a:p>
        </p:txBody>
      </p:sp>
      <p:sp>
        <p:nvSpPr>
          <p:cNvPr id="14" name="Notes and pitfalls"/>
          <p:cNvSpPr/>
          <p:nvPr/>
        </p:nvSpPr>
        <p:spPr>
          <a:xfrm>
            <a:off x="201168" y="4242816"/>
            <a:ext cx="4663440" cy="1014984"/>
          </a:xfrm>
          <a:prstGeom prst="roundRect">
            <a:avLst>
              <a:gd name="adj" fmla="val 9009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15" name="Kartentitel"/>
          <p:cNvSpPr txBox="1"/>
          <p:nvPr/>
        </p:nvSpPr>
        <p:spPr>
          <a:xfrm>
            <a:off x="310896" y="4315968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Notes and pitfalls</a:t>
            </a:r>
            <a:endParaRPr lang="en-US" sz="1100" dirty="0"/>
          </a:p>
        </p:txBody>
      </p:sp>
      <p:sp>
        <p:nvSpPr>
          <p:cNvPr id="16" name="Karteninhalt"/>
          <p:cNvSpPr txBox="1"/>
          <p:nvPr/>
        </p:nvSpPr>
        <p:spPr>
          <a:xfrm>
            <a:off x="310896" y="4590288"/>
            <a:ext cx="448056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The counterpart T15-14 describes the handover of central foundations to the market.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Coverage codes and technical options affect all markets (Chapter 15.7).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Approvals are kept traceable in the clarification register (Appendix F).</a:t>
            </a:r>
            <a:endParaRPr lang="en-US" sz="900" dirty="0"/>
          </a:p>
        </p:txBody>
      </p:sp>
      <p:sp>
        <p:nvSpPr>
          <p:cNvPr id="17" name="FAQ"/>
          <p:cNvSpPr/>
          <p:nvPr/>
        </p:nvSpPr>
        <p:spPr>
          <a:xfrm>
            <a:off x="5047488" y="713232"/>
            <a:ext cx="4663440" cy="1399032"/>
          </a:xfrm>
          <a:prstGeom prst="roundRect">
            <a:avLst>
              <a:gd name="adj" fmla="val 6536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18" name="FAQ Inhalt"/>
          <p:cNvSpPr txBox="1"/>
          <p:nvPr/>
        </p:nvSpPr>
        <p:spPr>
          <a:xfrm>
            <a:off x="5157216" y="786384"/>
            <a:ext cx="4443984" cy="1271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Frequently asked questions and answers</a:t>
            </a:r>
            <a:endParaRPr lang="en-US" sz="9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May the market create a campaign without HQ?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Yes, within the Blueprint (Chapter 14.13); deviating conditions need HQ approval.</a:t>
            </a:r>
            <a:endParaRPr lang="en-US" sz="9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How long does HQ approval take?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According to the HQ governance process (Chapter 15.4); the status is in the register.</a:t>
            </a:r>
            <a:endParaRPr lang="en-US" sz="9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What happens on rejection?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The change remains unpublished; the market can request again with a new justification.</a:t>
            </a:r>
            <a:endParaRPr lang="en-US" sz="900" dirty="0"/>
          </a:p>
        </p:txBody>
      </p:sp>
      <p:sp>
        <p:nvSpPr>
          <p:cNvPr id="19" name="Important links and contacts"/>
          <p:cNvSpPr/>
          <p:nvPr/>
        </p:nvSpPr>
        <p:spPr>
          <a:xfrm>
            <a:off x="5047488" y="2221992"/>
            <a:ext cx="4663440" cy="1344168"/>
          </a:xfrm>
          <a:prstGeom prst="roundRect">
            <a:avLst>
              <a:gd name="adj" fmla="val 6803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20" name="Kartentitel"/>
          <p:cNvSpPr txBox="1"/>
          <p:nvPr/>
        </p:nvSpPr>
        <p:spPr>
          <a:xfrm>
            <a:off x="5157216" y="2295144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Important links and contacts</a:t>
            </a:r>
            <a:endParaRPr lang="en-US" sz="1100" dirty="0"/>
          </a:p>
        </p:txBody>
      </p:sp>
      <p:sp>
        <p:nvSpPr>
          <p:cNvPr id="21" name="Karteninhalt"/>
          <p:cNvSpPr txBox="1"/>
          <p:nvPr/>
        </p:nvSpPr>
        <p:spPr>
          <a:xfrm>
            <a:off x="5157216" y="2569464"/>
            <a:ext cx="448056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u="sng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Chapter 14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Market role, product and price maintenance.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u="sng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Chapter 15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HQ role, Blueprint and central master data.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u="sng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Country deviation register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Chapter 20.6.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u="sng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oneSCM Handbook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Complete chapters with screenshots, role, status and scope matrices (Appendix D).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oneSCM – T14-15: Linking Market Maintenance and Central Requirements</dc:title>
  <dc:subject>PptxGenJS Presentation</dc:subject>
  <dc:creator>oneSCM Quick Guide</dc:creator>
  <cp:lastModifiedBy>oneSCM Quick Guide</cp:lastModifiedBy>
  <cp:revision>1</cp:revision>
  <dcterms:created xsi:type="dcterms:W3CDTF">2026-10-11T16:25:34Z</dcterms:created>
  <dcterms:modified xsi:type="dcterms:W3CDTF">2026-10-11T16:25:34Z</dcterms:modified>
</cp:coreProperties>
</file>