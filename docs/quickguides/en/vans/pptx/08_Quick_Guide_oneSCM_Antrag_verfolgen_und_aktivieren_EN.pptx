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906000" cy="6858000"/>
  <p:notesSz cx="6858000" cy="9906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image" Target="../media/image-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Tracking and Activating the Application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8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1/2</a:t>
            </a:r>
            <a:endParaRPr lang="en-US" sz="700" dirty="0"/>
          </a:p>
        </p:txBody>
      </p:sp>
      <p:sp>
        <p:nvSpPr>
          <p:cNvPr id="8" name="Purpose and benefit"/>
          <p:cNvSpPr/>
          <p:nvPr/>
        </p:nvSpPr>
        <p:spPr>
          <a:xfrm>
            <a:off x="201168" y="713232"/>
            <a:ext cx="4663440" cy="1426464"/>
          </a:xfrm>
          <a:prstGeom prst="roundRect">
            <a:avLst>
              <a:gd name="adj" fmla="val 6410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Purpose and benefit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263347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You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search and filter applications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read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 overview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add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missing vehicle data and documents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know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activation prerequisites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respond correctly to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rejection, delay and resubmission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(Chapter 8.1 to 8.7).</a:t>
            </a:r>
            <a:endParaRPr lang="en-US" sz="900" dirty="0"/>
          </a:p>
        </p:txBody>
      </p:sp>
      <p:pic>
        <p:nvPicPr>
          <p:cNvPr id="11" name="Kapitelbild" descr="/tmp/claude-0/-home-user-step2-oneSCM/768b354c-b2c6-524c-b102-2abaf010b0fe/scratchpad/qg/src/img_en/badge_08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35808" y="804672"/>
            <a:ext cx="1737360" cy="1051560"/>
          </a:xfrm>
          <a:prstGeom prst="rect">
            <a:avLst/>
          </a:prstGeom>
        </p:spPr>
      </p:pic>
      <p:sp>
        <p:nvSpPr>
          <p:cNvPr id="12" name="Hinweis"/>
          <p:cNvSpPr txBox="1"/>
          <p:nvPr/>
        </p:nvSpPr>
        <p:spPr>
          <a:xfrm>
            <a:off x="201168" y="2249424"/>
            <a:ext cx="4663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References to handbook chapters and systems are highlighted; e-mail addresses are provided as links.</a:t>
            </a:r>
            <a:endParaRPr lang="en-US" sz="900" dirty="0"/>
          </a:p>
        </p:txBody>
      </p:sp>
      <p:sp>
        <p:nvSpPr>
          <p:cNvPr id="13" name="Überblick Titel"/>
          <p:cNvSpPr txBox="1"/>
          <p:nvPr/>
        </p:nvSpPr>
        <p:spPr>
          <a:xfrm>
            <a:off x="201168" y="2688336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Topics at a glance</a:t>
            </a:r>
            <a:endParaRPr lang="en-US" sz="1100" dirty="0"/>
          </a:p>
        </p:txBody>
      </p:sp>
      <p:sp>
        <p:nvSpPr>
          <p:cNvPr id="14" name="Überblick Spalte"/>
          <p:cNvSpPr txBox="1"/>
          <p:nvPr/>
        </p:nvSpPr>
        <p:spPr>
          <a:xfrm>
            <a:off x="201168" y="2962656"/>
            <a:ext cx="22402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8.1 – 8.3 Tracking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Searching, filtering and tracking applications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 overview and permitted transitions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Adding missing vehicle data and documents</a:t>
            </a:r>
            <a:endParaRPr lang="en-US" sz="900" dirty="0"/>
          </a:p>
        </p:txBody>
      </p:sp>
      <p:sp>
        <p:nvSpPr>
          <p:cNvPr id="15" name="Überblick Spalte"/>
          <p:cNvSpPr txBox="1"/>
          <p:nvPr/>
        </p:nvSpPr>
        <p:spPr>
          <a:xfrm>
            <a:off x="2624328" y="2962656"/>
            <a:ext cx="2240280" cy="1472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8.4 – 8.7 Activating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Approval process and activation prerequisites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Automatic and manual activation variants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Checking activation and result</a:t>
            </a:r>
            <a:endParaRPr lang="en-US" sz="900" dirty="0"/>
          </a:p>
          <a:p>
            <a:pPr marL="152400" indent="-152400">
              <a:spcAft>
                <a:spcPts val="1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Rejection, delay and resubmission</a:t>
            </a:r>
            <a:endParaRPr lang="en-US" sz="900" dirty="0"/>
          </a:p>
        </p:txBody>
      </p:sp>
      <p:pic>
        <p:nvPicPr>
          <p:cNvPr id="16" name="Prozessbild" descr="/tmp/claude-0/-home-user-step2-oneSCM/768b354c-b2c6-524c-b102-2abaf010b0fe/scratchpad/qg/src/img_en/landscape_08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1168" y="4544568"/>
            <a:ext cx="4663440" cy="1207008"/>
          </a:xfrm>
          <a:prstGeom prst="rect">
            <a:avLst/>
          </a:prstGeom>
        </p:spPr>
      </p:pic>
      <p:pic>
        <p:nvPicPr>
          <p:cNvPr id="17" name="Prozessbild" descr="/tmp/claude-0/-home-user-step2-oneSCM/768b354c-b2c6-524c-b102-2abaf010b0fe/scratchpad/qg/src/img_en/flow_08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47488" y="713232"/>
            <a:ext cx="4663440" cy="1508760"/>
          </a:xfrm>
          <a:prstGeom prst="rect">
            <a:avLst/>
          </a:prstGeom>
        </p:spPr>
      </p:pic>
      <p:sp>
        <p:nvSpPr>
          <p:cNvPr id="18" name="Abschnittstitel"/>
          <p:cNvSpPr txBox="1"/>
          <p:nvPr/>
        </p:nvSpPr>
        <p:spPr>
          <a:xfrm>
            <a:off x="5047488" y="2331720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How to proceed</a:t>
            </a:r>
            <a:endParaRPr lang="en-US" sz="1100" dirty="0"/>
          </a:p>
        </p:txBody>
      </p:sp>
      <p:sp>
        <p:nvSpPr>
          <p:cNvPr id="19" name="Schritte"/>
          <p:cNvSpPr txBox="1"/>
          <p:nvPr/>
        </p:nvSpPr>
        <p:spPr>
          <a:xfrm>
            <a:off x="5065776" y="2606040"/>
            <a:ext cx="4645152" cy="1344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1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Under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Contract Creation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click "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Application Management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" and search for the application via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 number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(8.1).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2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Move the slider to the right to the "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Actions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" column, click "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…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" and select "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Update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".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3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Enter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first registration date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and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license plate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(8.3).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4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Open the application via the reference number, switch to the "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Communication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" tab and use the upload icon to upload the copy of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ZB I/ZB II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or the signed contract document.</a:t>
            </a:r>
            <a:endParaRPr lang="en-US" sz="900" dirty="0"/>
          </a:p>
        </p:txBody>
      </p:sp>
      <p:sp>
        <p:nvSpPr>
          <p:cNvPr id="20" name="Warnhinweis"/>
          <p:cNvSpPr/>
          <p:nvPr/>
        </p:nvSpPr>
        <p:spPr>
          <a:xfrm>
            <a:off x="5047488" y="4059936"/>
            <a:ext cx="4663440" cy="612648"/>
          </a:xfrm>
          <a:prstGeom prst="roundRect">
            <a:avLst>
              <a:gd name="adj" fmla="val 11940"/>
            </a:avLst>
          </a:prstGeom>
          <a:solidFill>
            <a:srgbClr val="FFE0E1"/>
          </a:solidFill>
          <a:ln w="12700">
            <a:solidFill>
              <a:srgbClr val="EF5F64"/>
            </a:solidFill>
            <a:prstDash val="solid"/>
          </a:ln>
        </p:spPr>
      </p:sp>
      <p:sp>
        <p:nvSpPr>
          <p:cNvPr id="21" name="Warnzeichen"/>
          <p:cNvSpPr txBox="1"/>
          <p:nvPr/>
        </p:nvSpPr>
        <p:spPr>
          <a:xfrm>
            <a:off x="5120640" y="4059936"/>
            <a:ext cx="2743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EF5F64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!</a:t>
            </a:r>
            <a:endParaRPr lang="en-US" sz="1600" dirty="0"/>
          </a:p>
        </p:txBody>
      </p:sp>
      <p:sp>
        <p:nvSpPr>
          <p:cNvPr id="22" name="Warntext"/>
          <p:cNvSpPr txBox="1"/>
          <p:nvPr/>
        </p:nvSpPr>
        <p:spPr>
          <a:xfrm>
            <a:off x="5458968" y="4059936"/>
            <a:ext cx="4160520" cy="6126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Uploading the ZB II is not a mandatory field in the system, but no activation takes place without the document.</a:t>
            </a:r>
            <a:r>
              <a:rPr lang="en-US" sz="900" dirty="0">
                <a:solidFill>
                  <a:srgbClr val="B21E23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Incorrect applications are rejected and the customer is informed.</a:t>
            </a:r>
            <a:endParaRPr lang="en-US" sz="900" dirty="0"/>
          </a:p>
        </p:txBody>
      </p:sp>
      <p:sp>
        <p:nvSpPr>
          <p:cNvPr id="23" name="Schritte"/>
          <p:cNvSpPr txBox="1"/>
          <p:nvPr/>
        </p:nvSpPr>
        <p:spPr>
          <a:xfrm>
            <a:off x="5065776" y="4782312"/>
            <a:ext cx="4645152" cy="10241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5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 overview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(8.2): only permitted transitions are possible; the application is reviewed and activated by Customer Management (8.4 and 8.5).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6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Check the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result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(8.6): contract status "active" and feedback in Communication.</a:t>
            </a:r>
            <a:endParaRPr lang="en-US" sz="900" dirty="0"/>
          </a:p>
          <a:p>
            <a:pPr marL="203200" indent="-203200">
              <a:spcAft>
                <a:spcPts val="400"/>
              </a:spcAft>
              <a:buSzPct val="100000"/>
              <a:buFont typeface="+mj-lt"/>
              <a:buAutoNum type="arabicPeriod" startAt="7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In case of </a:t>
            </a: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rejection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, Customer Management will contact you; correct the data and resubmit the application (8.7).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Hintergrund" descr="/tmp/claude-0/-home-user-step2-oneSCM/768b354c-b2c6-524c-b102-2abaf010b0fe/scratchpad/qg/src/stars_b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9906000" cy="6858000"/>
          </a:xfrm>
          <a:prstGeom prst="rect">
            <a:avLst/>
          </a:prstGeom>
        </p:spPr>
      </p:pic>
      <p:sp>
        <p:nvSpPr>
          <p:cNvPr id="3" name="Titel"/>
          <p:cNvSpPr txBox="1"/>
          <p:nvPr/>
        </p:nvSpPr>
        <p:spPr>
          <a:xfrm>
            <a:off x="201168" y="128016"/>
            <a:ext cx="7863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2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 – Tracking and Activating the Application</a:t>
            </a:r>
            <a:endParaRPr lang="en-US" sz="2400" dirty="0"/>
          </a:p>
        </p:txBody>
      </p:sp>
      <p:pic>
        <p:nvPicPr>
          <p:cNvPr id="4" name="Logo Stern" descr="/tmp/claude-0/-home-user-step2-oneSCM/768b354c-b2c6-524c-b102-2abaf010b0fe/scratchpad/qg/src/sta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49640" y="118872"/>
            <a:ext cx="457200" cy="438912"/>
          </a:xfrm>
          <a:prstGeom prst="rect">
            <a:avLst/>
          </a:prstGeom>
        </p:spPr>
      </p:pic>
      <p:sp>
        <p:nvSpPr>
          <p:cNvPr id="5" name="Logo Text"/>
          <p:cNvSpPr txBox="1"/>
          <p:nvPr/>
        </p:nvSpPr>
        <p:spPr>
          <a:xfrm>
            <a:off x="9052560" y="109728"/>
            <a:ext cx="822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90000"/>
              </a:lnSpc>
              <a:buNone/>
            </a:pPr>
            <a:r>
              <a:rPr lang="en-US" sz="1400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oneSCM</a:t>
            </a:r>
            <a:endParaRPr lang="en-US" sz="1400" dirty="0"/>
          </a:p>
          <a:p>
            <a:pPr indent="0" marL="0">
              <a:lnSpc>
                <a:spcPct val="90000"/>
              </a:lnSpc>
              <a:buNone/>
            </a:pPr>
            <a:r>
              <a:rPr lang="en-US" sz="1300" i="1" dirty="0">
                <a:solidFill>
                  <a:srgbClr val="B21E23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for Vans</a:t>
            </a:r>
            <a:endParaRPr lang="en-US" sz="1400" dirty="0"/>
          </a:p>
        </p:txBody>
      </p:sp>
      <p:sp>
        <p:nvSpPr>
          <p:cNvPr id="6" name="Fußzeile Hinweis"/>
          <p:cNvSpPr txBox="1"/>
          <p:nvPr/>
        </p:nvSpPr>
        <p:spPr>
          <a:xfrm>
            <a:off x="201168" y="6510528"/>
            <a:ext cx="7498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Note</a:t>
            </a:r>
            <a:r>
              <a:rPr lang="en-US" sz="8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This Quick Guide summarizes Chapter 8 of the oneSCM handbook. Details, screenshots and evidence can be found in the handbook.</a:t>
            </a:r>
            <a:endParaRPr lang="en-US" sz="800" dirty="0"/>
          </a:p>
        </p:txBody>
      </p:sp>
      <p:sp>
        <p:nvSpPr>
          <p:cNvPr id="7" name="Stand"/>
          <p:cNvSpPr txBox="1"/>
          <p:nvPr/>
        </p:nvSpPr>
        <p:spPr>
          <a:xfrm>
            <a:off x="7772400" y="6510528"/>
            <a:ext cx="19202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700" spc="250" kern="0" dirty="0">
                <a:solidFill>
                  <a:srgbClr val="404040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AS OF: 2026-10-11 | 2/2</a:t>
            </a:r>
            <a:endParaRPr lang="en-US" sz="700" dirty="0"/>
          </a:p>
        </p:txBody>
      </p:sp>
      <p:sp>
        <p:nvSpPr>
          <p:cNvPr id="8" name="Roles and prerequisites"/>
          <p:cNvSpPr/>
          <p:nvPr/>
        </p:nvSpPr>
        <p:spPr>
          <a:xfrm>
            <a:off x="201168" y="713232"/>
            <a:ext cx="4663440" cy="2112264"/>
          </a:xfrm>
          <a:prstGeom prst="roundRect">
            <a:avLst>
              <a:gd name="adj" fmla="val 4329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9" name="Kartentitel"/>
          <p:cNvSpPr txBox="1"/>
          <p:nvPr/>
        </p:nvSpPr>
        <p:spPr>
          <a:xfrm>
            <a:off x="310896" y="78638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Roles and prerequisites</a:t>
            </a:r>
            <a:endParaRPr lang="en-US" sz="1100" dirty="0"/>
          </a:p>
        </p:txBody>
      </p:sp>
      <p:sp>
        <p:nvSpPr>
          <p:cNvPr id="10" name="Karteninhalt"/>
          <p:cNvSpPr txBox="1"/>
          <p:nvPr/>
        </p:nvSpPr>
        <p:spPr>
          <a:xfrm>
            <a:off x="310896" y="1060704"/>
            <a:ext cx="4480560" cy="1709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Roles involved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Dealer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track application, submit missing data and documents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MO/Customer Management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review, approval and activation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System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: automatic activation when data is complete</a:t>
            </a:r>
            <a:endParaRPr lang="en-US" sz="9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</a:t>
            </a:r>
            <a:endParaRPr lang="en-US" sz="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Prerequisites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Application is saved and signed (Chapter 6 and 7)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Reference number is available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First registration, license plate and ZB II are available</a:t>
            </a:r>
            <a:endParaRPr lang="en-US" sz="900" dirty="0"/>
          </a:p>
        </p:txBody>
      </p:sp>
      <p:sp>
        <p:nvSpPr>
          <p:cNvPr id="11" name="Checklist before completion"/>
          <p:cNvSpPr/>
          <p:nvPr/>
        </p:nvSpPr>
        <p:spPr>
          <a:xfrm>
            <a:off x="201168" y="2935224"/>
            <a:ext cx="4663440" cy="1197864"/>
          </a:xfrm>
          <a:prstGeom prst="roundRect">
            <a:avLst>
              <a:gd name="adj" fmla="val 763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2" name="Kartentitel"/>
          <p:cNvSpPr txBox="1"/>
          <p:nvPr/>
        </p:nvSpPr>
        <p:spPr>
          <a:xfrm>
            <a:off x="310896" y="3008376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Checklist before completion</a:t>
            </a:r>
            <a:endParaRPr lang="en-US" sz="1100" dirty="0"/>
          </a:p>
        </p:txBody>
      </p:sp>
      <p:sp>
        <p:nvSpPr>
          <p:cNvPr id="13" name="Karteninhalt"/>
          <p:cNvSpPr txBox="1"/>
          <p:nvPr/>
        </p:nvSpPr>
        <p:spPr>
          <a:xfrm>
            <a:off x="310896" y="3282696"/>
            <a:ext cx="4480560" cy="7955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Application found in Application Management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First registration and license plate entered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ZB II and contract document uploaded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☐  Contract status "active" checked</a:t>
            </a:r>
            <a:endParaRPr lang="en-US" sz="900" dirty="0"/>
          </a:p>
        </p:txBody>
      </p:sp>
      <p:sp>
        <p:nvSpPr>
          <p:cNvPr id="14" name="Notes and pitfalls"/>
          <p:cNvSpPr/>
          <p:nvPr/>
        </p:nvSpPr>
        <p:spPr>
          <a:xfrm>
            <a:off x="201168" y="4242816"/>
            <a:ext cx="4663440" cy="1316736"/>
          </a:xfrm>
          <a:prstGeom prst="roundRect">
            <a:avLst>
              <a:gd name="adj" fmla="val 6944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5" name="Kartentitel"/>
          <p:cNvSpPr txBox="1"/>
          <p:nvPr/>
        </p:nvSpPr>
        <p:spPr>
          <a:xfrm>
            <a:off x="310896" y="4315968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Notes and pitfalls</a:t>
            </a:r>
            <a:endParaRPr lang="en-US" sz="1100" dirty="0"/>
          </a:p>
        </p:txBody>
      </p:sp>
      <p:sp>
        <p:nvSpPr>
          <p:cNvPr id="16" name="Karteninhalt"/>
          <p:cNvSpPr txBox="1"/>
          <p:nvPr/>
        </p:nvSpPr>
        <p:spPr>
          <a:xfrm>
            <a:off x="310896" y="4590288"/>
            <a:ext cx="44805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A service contract can be concluded up to 12 months and/or a maximum of 50,000 km after first registration, provided the vehicle has not yet received a service (exception: company and demonstrator vehicles with a previous owner).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The contract start corresponds to the date of first registration.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Status transitions are documented as a matrix in Appendix D.</a:t>
            </a:r>
            <a:endParaRPr lang="en-US" sz="900" dirty="0"/>
          </a:p>
        </p:txBody>
      </p:sp>
      <p:sp>
        <p:nvSpPr>
          <p:cNvPr id="17" name="FAQ"/>
          <p:cNvSpPr/>
          <p:nvPr/>
        </p:nvSpPr>
        <p:spPr>
          <a:xfrm>
            <a:off x="5047488" y="713232"/>
            <a:ext cx="4663440" cy="1536192"/>
          </a:xfrm>
          <a:prstGeom prst="roundRect">
            <a:avLst>
              <a:gd name="adj" fmla="val 5952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18" name="FAQ Inhalt"/>
          <p:cNvSpPr txBox="1"/>
          <p:nvPr/>
        </p:nvSpPr>
        <p:spPr>
          <a:xfrm>
            <a:off x="5157216" y="786384"/>
            <a:ext cx="4443984" cy="14081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Frequently asked questions and answers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How long does activation take?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With complete data, automatic activation takes place promptly; manual reviews by Customer Management take correspondingly longer (8.5).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My application was rejected. What to do?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Read the rejection reason in Communication, correct the data and resubmit the application (8.7).</a:t>
            </a:r>
            <a:endParaRPr lang="en-US" sz="900" dirty="0"/>
          </a:p>
          <a:p>
            <a:pPr marL="152400" indent="-152400">
              <a:spcAft>
                <a:spcPts val="3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Can I filter by status?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Yes, Application Management offers filters by status, date and customer (8.1).</a:t>
            </a:r>
            <a:endParaRPr lang="en-US" sz="900" dirty="0"/>
          </a:p>
        </p:txBody>
      </p:sp>
      <p:sp>
        <p:nvSpPr>
          <p:cNvPr id="19" name="Important links and contacts"/>
          <p:cNvSpPr/>
          <p:nvPr/>
        </p:nvSpPr>
        <p:spPr>
          <a:xfrm>
            <a:off x="5047488" y="2359152"/>
            <a:ext cx="4663440" cy="1636776"/>
          </a:xfrm>
          <a:prstGeom prst="roundRect">
            <a:avLst>
              <a:gd name="adj" fmla="val 5587"/>
            </a:avLst>
          </a:prstGeom>
          <a:solidFill>
            <a:srgbClr val="EFF8FF">
              <a:alpha val="70000"/>
            </a:srgbClr>
          </a:solidFill>
          <a:ln w="6350">
            <a:solidFill>
              <a:srgbClr val="00ADEF"/>
            </a:solidFill>
            <a:prstDash val="solid"/>
          </a:ln>
        </p:spPr>
      </p:sp>
      <p:sp>
        <p:nvSpPr>
          <p:cNvPr id="20" name="Kartentitel"/>
          <p:cNvSpPr txBox="1"/>
          <p:nvPr/>
        </p:nvSpPr>
        <p:spPr>
          <a:xfrm>
            <a:off x="5157216" y="2432304"/>
            <a:ext cx="44805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262626"/>
                </a:solidFill>
                <a:latin typeface="MB Corpo A Title Cond Office" pitchFamily="34" charset="0"/>
                <a:ea typeface="MB Corpo A Title Cond Office" pitchFamily="34" charset="-122"/>
                <a:cs typeface="MB Corpo A Title Cond Office" pitchFamily="34" charset="-120"/>
              </a:rPr>
              <a:t>Important links and contacts</a:t>
            </a:r>
            <a:endParaRPr lang="en-US" sz="1100" dirty="0"/>
          </a:p>
        </p:txBody>
      </p:sp>
      <p:sp>
        <p:nvSpPr>
          <p:cNvPr id="21" name="Karteninhalt"/>
          <p:cNvSpPr txBox="1"/>
          <p:nvPr/>
        </p:nvSpPr>
        <p:spPr>
          <a:xfrm>
            <a:off x="5157216" y="2706624"/>
            <a:ext cx="448056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Transition module T8-9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Overall process and MO role deep dive.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oneSCM handbook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Complete chapters with screenshots, role, status and scope matrices (Appendix D).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u="sng" dirty="0">
                <a:solidFill>
                  <a:srgbClr val="00ADEF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FAQ and troubleshooting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Chapter 23 with questions per process phase and known errors per market and release.</a:t>
            </a:r>
            <a:endParaRPr lang="en-US" sz="9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900" b="1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Support and escalation</a:t>
            </a:r>
            <a:r>
              <a:rPr lang="en-US" sz="900" dirty="0">
                <a:solidFill>
                  <a:srgbClr val="262626"/>
                </a:solidFill>
                <a:latin typeface="MB Corpo S Text Office" pitchFamily="34" charset="0"/>
                <a:ea typeface="MB Corpo S Text Office" pitchFamily="34" charset="-122"/>
                <a:cs typeface="MB Corpo S Text Office" pitchFamily="34" charset="-120"/>
              </a:rPr>
              <a:t> – Report a support case with reference number, market, division and screenshot (Chapter 23.4 and 23.5).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oneSCM – Tracking and Activating the Application</dc:title>
  <dc:subject>PptxGenJS Presentation</dc:subject>
  <dc:creator>oneSCM Quick Guide</dc:creator>
  <cp:lastModifiedBy>oneSCM Quick Guide</cp:lastModifiedBy>
  <cp:revision>1</cp:revision>
  <dcterms:created xsi:type="dcterms:W3CDTF">2026-10-11T16:25:28Z</dcterms:created>
  <dcterms:modified xsi:type="dcterms:W3CDTF">2026-10-11T16:25:28Z</dcterms:modified>
</cp:coreProperties>
</file>