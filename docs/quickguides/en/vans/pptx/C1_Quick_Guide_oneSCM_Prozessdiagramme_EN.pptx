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906000" cy="6858000"/>
  <p:notesSz cx="6858000" cy="9906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C.1: Process Diagrams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C.1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1/2</a:t>
            </a:r>
            <a:endParaRPr lang="en-US" sz="700" dirty="0"/>
          </a:p>
        </p:txBody>
      </p:sp>
      <p:sp>
        <p:nvSpPr>
          <p:cNvPr id="8" name="Purpose and benefit"/>
          <p:cNvSpPr/>
          <p:nvPr/>
        </p:nvSpPr>
        <p:spPr>
          <a:xfrm>
            <a:off x="201168" y="713232"/>
            <a:ext cx="4663440" cy="1426464"/>
          </a:xfrm>
          <a:prstGeom prst="roundRect">
            <a:avLst>
              <a:gd name="adj" fmla="val 6410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2633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Purpose and benefit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2633472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diagrams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show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,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sub-processes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from quote to contract end and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between roles and systems. This guide explains how to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diagrams and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apply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them to your transaction.</a:t>
            </a:r>
            <a:endParaRPr lang="en-US" sz="900" dirty="0"/>
          </a:p>
        </p:txBody>
      </p:sp>
      <p:pic>
        <p:nvPicPr>
          <p:cNvPr id="11" name="Kapitelbild" descr="/tmp/claude-0/-home-user-step2-oneSCM/768b354c-b2c6-524c-b102-2abaf010b0fe/scratchpad/qg/src/img_en/badge_C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5808" y="804672"/>
            <a:ext cx="1737360" cy="1051560"/>
          </a:xfrm>
          <a:prstGeom prst="rect">
            <a:avLst/>
          </a:prstGeom>
        </p:spPr>
      </p:pic>
      <p:sp>
        <p:nvSpPr>
          <p:cNvPr id="12" name="Hinweis"/>
          <p:cNvSpPr txBox="1"/>
          <p:nvPr/>
        </p:nvSpPr>
        <p:spPr>
          <a:xfrm>
            <a:off x="201168" y="2249424"/>
            <a:ext cx="4663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This document is interactive – references to handbook chapters and systems are provided as links.</a:t>
            </a:r>
            <a:endParaRPr lang="en-US" sz="900" dirty="0"/>
          </a:p>
        </p:txBody>
      </p:sp>
      <p:sp>
        <p:nvSpPr>
          <p:cNvPr id="13" name="Überblick Titel"/>
          <p:cNvSpPr txBox="1"/>
          <p:nvPr/>
        </p:nvSpPr>
        <p:spPr>
          <a:xfrm>
            <a:off x="201168" y="268833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Contents at a glance</a:t>
            </a:r>
            <a:endParaRPr lang="en-US" sz="1100" dirty="0"/>
          </a:p>
        </p:txBody>
      </p:sp>
      <p:sp>
        <p:nvSpPr>
          <p:cNvPr id="14" name="Überblick Spalte"/>
          <p:cNvSpPr txBox="1"/>
          <p:nvPr/>
        </p:nvSpPr>
        <p:spPr>
          <a:xfrm>
            <a:off x="20116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 (overall process)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Sub-processes: quote, application, signature, activation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Management, termination, billing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Market and HQ maintenance processes</a:t>
            </a:r>
            <a:endParaRPr lang="en-US" sz="900" dirty="0"/>
          </a:p>
        </p:txBody>
      </p:sp>
      <p:sp>
        <p:nvSpPr>
          <p:cNvPr id="15" name="Überblick Spalte"/>
          <p:cNvSpPr txBox="1"/>
          <p:nvPr/>
        </p:nvSpPr>
        <p:spPr>
          <a:xfrm>
            <a:off x="2624328" y="2962656"/>
            <a:ext cx="2240280" cy="11978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Symbols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Rectangle: process step with chapter reference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Diamond: decision or check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Arrow: handover, labeled with status</a:t>
            </a:r>
            <a:endParaRPr lang="en-US" sz="900" dirty="0"/>
          </a:p>
          <a:p>
            <a:pPr marL="152400" indent="-1524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Color: role that performs the step</a:t>
            </a:r>
            <a:endParaRPr lang="en-US" sz="900" dirty="0"/>
          </a:p>
        </p:txBody>
      </p:sp>
      <p:pic>
        <p:nvPicPr>
          <p:cNvPr id="16" name="Prozessbild" descr="/tmp/claude-0/-home-user-step2-oneSCM/768b354c-b2c6-524c-b102-2abaf010b0fe/scratchpad/qg/src/img_en/landscape_C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" y="4270248"/>
            <a:ext cx="4663440" cy="1207008"/>
          </a:xfrm>
          <a:prstGeom prst="rect">
            <a:avLst/>
          </a:prstGeom>
        </p:spPr>
      </p:pic>
      <p:pic>
        <p:nvPicPr>
          <p:cNvPr id="17" name="Prozessbild" descr="/tmp/claude-0/-home-user-step2-oneSCM/768b354c-b2c6-524c-b102-2abaf010b0fe/scratchpad/qg/src/img_en/flow_C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713232"/>
            <a:ext cx="4663440" cy="960120"/>
          </a:xfrm>
          <a:prstGeom prst="rect">
            <a:avLst/>
          </a:prstGeom>
        </p:spPr>
      </p:pic>
      <p:sp>
        <p:nvSpPr>
          <p:cNvPr id="18" name="Abschnittstitel"/>
          <p:cNvSpPr txBox="1"/>
          <p:nvPr/>
        </p:nvSpPr>
        <p:spPr>
          <a:xfrm>
            <a:off x="5047488" y="17830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How to proceed</a:t>
            </a:r>
            <a:endParaRPr lang="en-US" sz="1100" dirty="0"/>
          </a:p>
        </p:txBody>
      </p:sp>
      <p:sp>
        <p:nvSpPr>
          <p:cNvPr id="19" name="Schritte"/>
          <p:cNvSpPr txBox="1"/>
          <p:nvPr/>
        </p:nvSpPr>
        <p:spPr>
          <a:xfrm>
            <a:off x="5065776" y="2057400"/>
            <a:ext cx="464515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1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Start with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map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and find the phase of your transaction.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2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Open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sub-process diagram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of the phase; each step names the chapter.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3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Read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handovers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on the arrows: Which status must be reached, which role takes over?</a:t>
            </a:r>
            <a:endParaRPr lang="en-US" sz="900" dirty="0"/>
          </a:p>
        </p:txBody>
      </p:sp>
      <p:sp>
        <p:nvSpPr>
          <p:cNvPr id="20" name="Warnhinweis"/>
          <p:cNvSpPr/>
          <p:nvPr/>
        </p:nvSpPr>
        <p:spPr>
          <a:xfrm>
            <a:off x="5047488" y="2916936"/>
            <a:ext cx="4663440" cy="475488"/>
          </a:xfrm>
          <a:prstGeom prst="roundRect">
            <a:avLst>
              <a:gd name="adj" fmla="val 15385"/>
            </a:avLst>
          </a:prstGeom>
          <a:solidFill>
            <a:srgbClr val="FFE0E1"/>
          </a:solidFill>
          <a:ln w="12700">
            <a:solidFill>
              <a:srgbClr val="EF5F64"/>
            </a:solidFill>
            <a:prstDash val="solid"/>
          </a:ln>
        </p:spPr>
      </p:sp>
      <p:sp>
        <p:nvSpPr>
          <p:cNvPr id="21" name="Warnzeichen"/>
          <p:cNvSpPr txBox="1"/>
          <p:nvPr/>
        </p:nvSpPr>
        <p:spPr>
          <a:xfrm>
            <a:off x="5120640" y="2916936"/>
            <a:ext cx="274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F5F64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Warntext"/>
          <p:cNvSpPr txBox="1"/>
          <p:nvPr/>
        </p:nvSpPr>
        <p:spPr>
          <a:xfrm>
            <a:off x="5458968" y="2916936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Diagrams show the standard process.</a:t>
            </a:r>
            <a:r>
              <a:rPr lang="en-US" sz="900" dirty="0">
                <a:solidFill>
                  <a:srgbClr val="B21E23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Country and division deviations (Chapters 20 and 21) are documented only there, not in the diagram.</a:t>
            </a:r>
            <a:endParaRPr lang="en-US" sz="900" dirty="0"/>
          </a:p>
        </p:txBody>
      </p:sp>
      <p:sp>
        <p:nvSpPr>
          <p:cNvPr id="23" name="Schritte"/>
          <p:cNvSpPr txBox="1"/>
          <p:nvPr/>
        </p:nvSpPr>
        <p:spPr>
          <a:xfrm>
            <a:off x="5065776" y="3502152"/>
            <a:ext cx="46451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4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decisions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(diamonds): special approval, MO Check and rejection lead to alternative paths.</a:t>
            </a:r>
            <a:endParaRPr lang="en-US" sz="900" dirty="0"/>
          </a:p>
          <a:p>
            <a:pPr marL="203200" indent="-203200">
              <a:spcAft>
                <a:spcPts val="400"/>
              </a:spcAft>
              <a:buSzPct val="100000"/>
              <a:buFont typeface="+mj-lt"/>
              <a:buAutoNum type="arabicPeriod" startAt="5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Use the </a:t>
            </a: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transition modules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(T6-7 to T15-16) to move between chapters.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Hintergrund" descr="/tmp/claude-0/-home-user-step2-oneSCM/768b354c-b2c6-524c-b102-2abaf010b0fe/scratchpad/qg/src/stars_b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906000" cy="6858000"/>
          </a:xfrm>
          <a:prstGeom prst="rect">
            <a:avLst/>
          </a:prstGeom>
        </p:spPr>
      </p:pic>
      <p:sp>
        <p:nvSpPr>
          <p:cNvPr id="3" name="Titel"/>
          <p:cNvSpPr txBox="1"/>
          <p:nvPr/>
        </p:nvSpPr>
        <p:spPr>
          <a:xfrm>
            <a:off x="201168" y="128016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 – Appendix C.1: Process Diagrams</a:t>
            </a:r>
            <a:endParaRPr lang="en-US" sz="2400" dirty="0"/>
          </a:p>
        </p:txBody>
      </p:sp>
      <p:pic>
        <p:nvPicPr>
          <p:cNvPr id="4" name="Logo Stern" descr="/tmp/claude-0/-home-user-step2-oneSCM/768b354c-b2c6-524c-b102-2abaf010b0fe/scratchpad/qg/src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9640" y="118872"/>
            <a:ext cx="457200" cy="438912"/>
          </a:xfrm>
          <a:prstGeom prst="rect">
            <a:avLst/>
          </a:prstGeom>
        </p:spPr>
      </p:pic>
      <p:sp>
        <p:nvSpPr>
          <p:cNvPr id="5" name="Logo Text"/>
          <p:cNvSpPr txBox="1"/>
          <p:nvPr/>
        </p:nvSpPr>
        <p:spPr>
          <a:xfrm>
            <a:off x="9052560" y="109728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0000"/>
              </a:lnSpc>
              <a:buNone/>
            </a:pPr>
            <a:r>
              <a:rPr lang="en-US" sz="1400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oneSCM</a:t>
            </a:r>
            <a:endParaRPr lang="en-US" sz="1400" dirty="0"/>
          </a:p>
          <a:p>
            <a:pPr indent="0" marL="0">
              <a:lnSpc>
                <a:spcPct val="90000"/>
              </a:lnSpc>
              <a:buNone/>
            </a:pPr>
            <a:r>
              <a:rPr lang="en-US" sz="1300" i="1" dirty="0">
                <a:solidFill>
                  <a:srgbClr val="B21E23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for Vans</a:t>
            </a:r>
            <a:endParaRPr lang="en-US" sz="1400" dirty="0"/>
          </a:p>
        </p:txBody>
      </p:sp>
      <p:sp>
        <p:nvSpPr>
          <p:cNvPr id="6" name="Fußzeile Hinweis"/>
          <p:cNvSpPr txBox="1"/>
          <p:nvPr/>
        </p:nvSpPr>
        <p:spPr>
          <a:xfrm>
            <a:off x="201168" y="6510528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Note</a:t>
            </a:r>
            <a:r>
              <a:rPr lang="en-US" sz="8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This Quick Guide summarizes Appendix C.1 of the oneSCM handbook. Details, screenshots and evidence can be found in the handbook.</a:t>
            </a:r>
            <a:endParaRPr lang="en-US" sz="800" dirty="0"/>
          </a:p>
        </p:txBody>
      </p:sp>
      <p:sp>
        <p:nvSpPr>
          <p:cNvPr id="7" name="Stand"/>
          <p:cNvSpPr txBox="1"/>
          <p:nvPr/>
        </p:nvSpPr>
        <p:spPr>
          <a:xfrm>
            <a:off x="7772400" y="6510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spc="250" kern="0" dirty="0">
                <a:solidFill>
                  <a:srgbClr val="404040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AS OF: 2026-10-11 | 2/2</a:t>
            </a:r>
            <a:endParaRPr lang="en-US" sz="700" dirty="0"/>
          </a:p>
        </p:txBody>
      </p:sp>
      <p:sp>
        <p:nvSpPr>
          <p:cNvPr id="8" name="Roles and prerequisites"/>
          <p:cNvSpPr/>
          <p:nvPr/>
        </p:nvSpPr>
        <p:spPr>
          <a:xfrm>
            <a:off x="201168" y="713232"/>
            <a:ext cx="4663440" cy="2112264"/>
          </a:xfrm>
          <a:prstGeom prst="roundRect">
            <a:avLst>
              <a:gd name="adj" fmla="val 432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9" name="Kartentitel"/>
          <p:cNvSpPr txBox="1"/>
          <p:nvPr/>
        </p:nvSpPr>
        <p:spPr>
          <a:xfrm>
            <a:off x="310896" y="7863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Roles and prerequisites</a:t>
            </a:r>
            <a:endParaRPr lang="en-US" sz="1100" dirty="0"/>
          </a:p>
        </p:txBody>
      </p:sp>
      <p:sp>
        <p:nvSpPr>
          <p:cNvPr id="10" name="Karteninhalt"/>
          <p:cNvSpPr txBox="1"/>
          <p:nvPr/>
        </p:nvSpPr>
        <p:spPr>
          <a:xfrm>
            <a:off x="310896" y="1060704"/>
            <a:ext cx="4480560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Roles involved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All roles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read diagrams and classify the transaction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Training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use diagrams as an introduction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HQ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: maintain and approve diagrams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</a:t>
            </a:r>
            <a:endParaRPr lang="en-US" sz="9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Prerequisites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Basic knowledge of the process map (Chapter 3.4)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 and process phase known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 symbols (legend) read</a:t>
            </a:r>
            <a:endParaRPr lang="en-US" sz="900" dirty="0"/>
          </a:p>
        </p:txBody>
      </p:sp>
      <p:sp>
        <p:nvSpPr>
          <p:cNvPr id="11" name="Checklist before completion"/>
          <p:cNvSpPr/>
          <p:nvPr/>
        </p:nvSpPr>
        <p:spPr>
          <a:xfrm>
            <a:off x="201168" y="2935224"/>
            <a:ext cx="4663440" cy="1197864"/>
          </a:xfrm>
          <a:prstGeom prst="roundRect">
            <a:avLst>
              <a:gd name="adj" fmla="val 7634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2" name="Kartentitel"/>
          <p:cNvSpPr txBox="1"/>
          <p:nvPr/>
        </p:nvSpPr>
        <p:spPr>
          <a:xfrm>
            <a:off x="310896" y="300837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Checklist before completion</a:t>
            </a:r>
            <a:endParaRPr lang="en-US" sz="1100" dirty="0"/>
          </a:p>
        </p:txBody>
      </p:sp>
      <p:sp>
        <p:nvSpPr>
          <p:cNvPr id="13" name="Karteninhalt"/>
          <p:cNvSpPr txBox="1"/>
          <p:nvPr/>
        </p:nvSpPr>
        <p:spPr>
          <a:xfrm>
            <a:off x="310896" y="3282696"/>
            <a:ext cx="4480560" cy="795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Phase found in the process map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Sub-process read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Handovers and status understood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☐  Alternative paths known</a:t>
            </a:r>
            <a:endParaRPr lang="en-US" sz="900" dirty="0"/>
          </a:p>
        </p:txBody>
      </p:sp>
      <p:sp>
        <p:nvSpPr>
          <p:cNvPr id="14" name="Notes and pitfalls"/>
          <p:cNvSpPr/>
          <p:nvPr/>
        </p:nvSpPr>
        <p:spPr>
          <a:xfrm>
            <a:off x="201168" y="4242816"/>
            <a:ext cx="4663440" cy="1014984"/>
          </a:xfrm>
          <a:prstGeom prst="roundRect">
            <a:avLst>
              <a:gd name="adj" fmla="val 9009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5" name="Kartentitel"/>
          <p:cNvSpPr txBox="1"/>
          <p:nvPr/>
        </p:nvSpPr>
        <p:spPr>
          <a:xfrm>
            <a:off x="310896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Notes and pitfalls</a:t>
            </a:r>
            <a:endParaRPr lang="en-US" sz="1100" dirty="0"/>
          </a:p>
        </p:txBody>
      </p:sp>
      <p:sp>
        <p:nvSpPr>
          <p:cNvPr id="16" name="Karteninhalt"/>
          <p:cNvSpPr txBox="1"/>
          <p:nvPr/>
        </p:nvSpPr>
        <p:spPr>
          <a:xfrm>
            <a:off x="310896" y="4590288"/>
            <a:ext cx="4480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The diagrams are shown in the dashboard as a click path.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Status transitions in detail are in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Diagrams are reviewed with each release (Chapter 22).</a:t>
            </a:r>
            <a:endParaRPr lang="en-US" sz="900" dirty="0"/>
          </a:p>
        </p:txBody>
      </p:sp>
      <p:sp>
        <p:nvSpPr>
          <p:cNvPr id="17" name="FAQ"/>
          <p:cNvSpPr/>
          <p:nvPr/>
        </p:nvSpPr>
        <p:spPr>
          <a:xfrm>
            <a:off x="5047488" y="713232"/>
            <a:ext cx="4663440" cy="1261872"/>
          </a:xfrm>
          <a:prstGeom prst="roundRect">
            <a:avLst>
              <a:gd name="adj" fmla="val 7246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18" name="FAQ Inhalt"/>
          <p:cNvSpPr txBox="1"/>
          <p:nvPr/>
        </p:nvSpPr>
        <p:spPr>
          <a:xfrm>
            <a:off x="5157216" y="786384"/>
            <a:ext cx="444398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Frequently asked questions and answers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Which diagram do I need for application creation?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Sub-process application (Chapter 6) with transition T6-7 to signature.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What do the colors mean?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The role that performs the step: Dealer, MO, Market, HQ or system.</a:t>
            </a:r>
            <a:endParaRPr lang="en-US" sz="900" dirty="0"/>
          </a:p>
          <a:p>
            <a:pPr marL="152400" indent="-152400">
              <a:spcAft>
                <a:spcPts val="3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Can I export diagrams?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Yes, via the handbook export (Chapter 16.5).</a:t>
            </a:r>
            <a:endParaRPr lang="en-US" sz="900" dirty="0"/>
          </a:p>
        </p:txBody>
      </p:sp>
      <p:sp>
        <p:nvSpPr>
          <p:cNvPr id="19" name="Important links and contacts"/>
          <p:cNvSpPr/>
          <p:nvPr/>
        </p:nvSpPr>
        <p:spPr>
          <a:xfrm>
            <a:off x="5047488" y="2084832"/>
            <a:ext cx="4663440" cy="1490472"/>
          </a:xfrm>
          <a:prstGeom prst="roundRect">
            <a:avLst>
              <a:gd name="adj" fmla="val 6135"/>
            </a:avLst>
          </a:prstGeom>
          <a:solidFill>
            <a:srgbClr val="EFF8FF">
              <a:alpha val="70000"/>
            </a:srgbClr>
          </a:solidFill>
          <a:ln w="6350">
            <a:solidFill>
              <a:srgbClr val="00ADEF"/>
            </a:solidFill>
            <a:prstDash val="solid"/>
          </a:ln>
        </p:spPr>
      </p:sp>
      <p:sp>
        <p:nvSpPr>
          <p:cNvPr id="20" name="Kartentitel"/>
          <p:cNvSpPr txBox="1"/>
          <p:nvPr/>
        </p:nvSpPr>
        <p:spPr>
          <a:xfrm>
            <a:off x="5157216" y="215798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262626"/>
                </a:solidFill>
                <a:latin typeface="MB Corpo A Title Cond Office" pitchFamily="34" charset="0"/>
                <a:ea typeface="MB Corpo A Title Cond Office" pitchFamily="34" charset="-122"/>
                <a:cs typeface="MB Corpo A Title Cond Office" pitchFamily="34" charset="-120"/>
              </a:rPr>
              <a:t>Important links and contacts</a:t>
            </a:r>
            <a:endParaRPr lang="en-US" sz="1100" dirty="0"/>
          </a:p>
        </p:txBody>
      </p:sp>
      <p:sp>
        <p:nvSpPr>
          <p:cNvPr id="21" name="Karteninhalt"/>
          <p:cNvSpPr txBox="1"/>
          <p:nvPr/>
        </p:nvSpPr>
        <p:spPr>
          <a:xfrm>
            <a:off x="5157216" y="2432304"/>
            <a:ext cx="448056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Process diagrams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C.1.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Role/status/scope matrices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Appendix D.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u="sng" dirty="0">
                <a:solidFill>
                  <a:srgbClr val="00ADEF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oneSCM Handbook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Complete chapters with screenshots, role, status and scope matrices (Appendix D).</a:t>
            </a:r>
            <a:endParaRPr lang="en-US" sz="900" dirty="0"/>
          </a:p>
          <a:p>
            <a:pPr marL="152400" indent="-152400">
              <a:spcAft>
                <a:spcPts val="200"/>
              </a:spcAft>
              <a:buSzPct val="100000"/>
              <a:buChar char="•"/>
            </a:pPr>
            <a:r>
              <a:rPr lang="en-US" sz="900" b="1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Support and escalation</a:t>
            </a:r>
            <a:r>
              <a:rPr lang="en-US" sz="900" dirty="0">
                <a:solidFill>
                  <a:srgbClr val="262626"/>
                </a:solidFill>
                <a:latin typeface="MB Corpo S Text Office" pitchFamily="34" charset="0"/>
                <a:ea typeface="MB Corpo S Text Office" pitchFamily="34" charset="-122"/>
                <a:cs typeface="MB Corpo S Text Office" pitchFamily="34" charset="-120"/>
              </a:rPr>
              <a:t> – Report a support case with reference number, market, division and screenshot (Chapters 23.4 and 23.5).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oneSCM – Appendix C.1: Process Diagrams</dc:title>
  <dc:subject>PptxGenJS Presentation</dc:subject>
  <dc:creator>oneSCM Quick Guide</dc:creator>
  <cp:lastModifiedBy>oneSCM Quick Guide</cp:lastModifiedBy>
  <cp:revision>1</cp:revision>
  <dcterms:created xsi:type="dcterms:W3CDTF">2026-10-11T16:05:16Z</dcterms:created>
  <dcterms:modified xsi:type="dcterms:W3CDTF">2026-10-11T16:05:16Z</dcterms:modified>
</cp:coreProperties>
</file>