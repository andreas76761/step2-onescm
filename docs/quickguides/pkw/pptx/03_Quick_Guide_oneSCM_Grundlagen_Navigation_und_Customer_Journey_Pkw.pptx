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906000" cy="6858000"/>
  <p:notesSz cx="6858000" cy="9906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Grundlagen, Navigation und Customer Journey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Pkw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Kapitel 3 des oneSCM-Handbuchs zusammen. Details, Bildschirmbilder und Nachweise finden Sie im Handbuch.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1/2</a:t>
            </a:r>
            <a:endParaRPr lang="en-US" sz="700" dirty="0"/>
          </a:p>
        </p:txBody>
      </p:sp>
      <p:sp>
        <p:nvSpPr>
          <p:cNvPr id="8" name="Ziel und Nutzen"/>
          <p:cNvSpPr/>
          <p:nvPr/>
        </p:nvSpPr>
        <p:spPr>
          <a:xfrm>
            <a:off x="201168" y="713232"/>
            <a:ext cx="4663440" cy="1426464"/>
          </a:xfrm>
          <a:prstGeom prst="roundRect">
            <a:avLst>
              <a:gd name="adj" fmla="val 6410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Ziel und Nutzen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263347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Sie finden sich auf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Startseite und Menü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zurecht, nutzen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Suche und Filter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kennen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Bedienmuster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und ordnen den Vertragsprozess von der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Preisinformation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bis zum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Vertrag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in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Prozesslandkarte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ein (Kapitel 3.1 bis 3.9).</a:t>
            </a:r>
            <a:endParaRPr lang="en-US" sz="900" dirty="0"/>
          </a:p>
        </p:txBody>
      </p:sp>
      <p:pic>
        <p:nvPicPr>
          <p:cNvPr id="11" name="Kapitelbild" descr="/tmp/claude-0/-home-user-step2-oneSCM/768b354c-b2c6-524c-b102-2abaf010b0fe/scratchpad/qg/src/img/badge_03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5808" y="804672"/>
            <a:ext cx="1737360" cy="1051560"/>
          </a:xfrm>
          <a:prstGeom prst="rect">
            <a:avLst/>
          </a:prstGeom>
        </p:spPr>
      </p:pic>
      <p:sp>
        <p:nvSpPr>
          <p:cNvPr id="12" name="Hinweis"/>
          <p:cNvSpPr txBox="1"/>
          <p:nvPr/>
        </p:nvSpPr>
        <p:spPr>
          <a:xfrm>
            <a:off x="201168" y="2249424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Dieses Dokument ist interaktiv – Verweise auf Handbuchkapitel und Systeme sind als Links hinterlegt.</a:t>
            </a:r>
            <a:endParaRPr lang="en-US" sz="900" dirty="0"/>
          </a:p>
        </p:txBody>
      </p:sp>
      <p:sp>
        <p:nvSpPr>
          <p:cNvPr id="13" name="Überblick Titel"/>
          <p:cNvSpPr txBox="1"/>
          <p:nvPr/>
        </p:nvSpPr>
        <p:spPr>
          <a:xfrm>
            <a:off x="201168" y="2688336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Die Themen im Überblick</a:t>
            </a:r>
            <a:endParaRPr lang="en-US" sz="1100" dirty="0"/>
          </a:p>
        </p:txBody>
      </p:sp>
      <p:sp>
        <p:nvSpPr>
          <p:cNvPr id="14" name="Überblick Spalte"/>
          <p:cNvSpPr txBox="1"/>
          <p:nvPr/>
        </p:nvSpPr>
        <p:spPr>
          <a:xfrm>
            <a:off x="201168" y="2962656"/>
            <a:ext cx="224028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3.1 – 3.3 Oberfläche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Startseite und Menü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Suche und Filter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Oberflächenelemente und Bedienmuster</a:t>
            </a:r>
            <a:endParaRPr lang="en-US" sz="9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3.4 – 3.6 Customer Journey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Prozesslandkarte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Preisinformation, Angebot, Antrag und Vertrag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Lead und CRM-Übergabe</a:t>
            </a:r>
            <a:endParaRPr lang="en-US" sz="900" dirty="0"/>
          </a:p>
        </p:txBody>
      </p:sp>
      <p:sp>
        <p:nvSpPr>
          <p:cNvPr id="15" name="Überblick Spalte"/>
          <p:cNvSpPr txBox="1"/>
          <p:nvPr/>
        </p:nvSpPr>
        <p:spPr>
          <a:xfrm>
            <a:off x="2624328" y="2962656"/>
            <a:ext cx="224028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3.7 – 3.9 Status und Kontext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Schnittstellen und Systemübergaben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Statusinformationen richtig einordnen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Persönlicher Arbeitskontext und Sprachen</a:t>
            </a:r>
            <a:endParaRPr lang="en-US" sz="900" dirty="0"/>
          </a:p>
        </p:txBody>
      </p:sp>
      <p:pic>
        <p:nvPicPr>
          <p:cNvPr id="16" name="Prozessbild" descr="/tmp/claude-0/-home-user-step2-oneSCM/768b354c-b2c6-524c-b102-2abaf010b0fe/scratchpad/qg/src/img/landscape_03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168" y="4946904"/>
            <a:ext cx="4663440" cy="1207008"/>
          </a:xfrm>
          <a:prstGeom prst="rect">
            <a:avLst/>
          </a:prstGeom>
        </p:spPr>
      </p:pic>
      <p:pic>
        <p:nvPicPr>
          <p:cNvPr id="17" name="Prozessbild" descr="/tmp/claude-0/-home-user-step2-oneSCM/768b354c-b2c6-524c-b102-2abaf010b0fe/scratchpad/qg/src/img/flow_03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7488" y="713232"/>
            <a:ext cx="4663440" cy="1508760"/>
          </a:xfrm>
          <a:prstGeom prst="rect">
            <a:avLst/>
          </a:prstGeom>
        </p:spPr>
      </p:pic>
      <p:sp>
        <p:nvSpPr>
          <p:cNvPr id="18" name="Abschnittstitel"/>
          <p:cNvSpPr txBox="1"/>
          <p:nvPr/>
        </p:nvSpPr>
        <p:spPr>
          <a:xfrm>
            <a:off x="5047488" y="233172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So gehen Sie vor</a:t>
            </a:r>
            <a:endParaRPr lang="en-US" sz="1100" dirty="0"/>
          </a:p>
        </p:txBody>
      </p:sp>
      <p:sp>
        <p:nvSpPr>
          <p:cNvPr id="19" name="Schritte"/>
          <p:cNvSpPr txBox="1"/>
          <p:nvPr/>
        </p:nvSpPr>
        <p:spPr>
          <a:xfrm>
            <a:off x="5065776" y="2606040"/>
            <a:ext cx="4645152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Starten Sie auf der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Startseite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(3.1): Die Kacheln führen zu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Vertragserstellung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Antragsverwaltung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Kundenmanagement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sowie zu Garantie-Paketen und externen Portalen.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2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Nutzen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Suche und Filter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(3.2): Referenznummer, FIN/VIN, Kundenname oder Status grenzen Listen ein. Spalten wie „Aktionen“ erreichen Sie über den horizontalen Schieberegler.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3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Erkennen Sie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Bedienmuster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(3.3): Schrittleiste mit Häkchen, Schieberegler für optionale Angaben, Drei-Punkte-Menü für Aktionen, Pflichtfelder mit Stern.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4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Ordnen Sie Ihren Vorgang in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Prozesslandkarte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ein (3.4 und 3.5): Preisinformation → Angebot → Antrag → Vertrag.</a:t>
            </a:r>
            <a:endParaRPr lang="en-US" sz="900" dirty="0"/>
          </a:p>
        </p:txBody>
      </p:sp>
      <p:sp>
        <p:nvSpPr>
          <p:cNvPr id="20" name="Warnhinweis"/>
          <p:cNvSpPr/>
          <p:nvPr/>
        </p:nvSpPr>
        <p:spPr>
          <a:xfrm>
            <a:off x="5047488" y="4206240"/>
            <a:ext cx="4663440" cy="612648"/>
          </a:xfrm>
          <a:prstGeom prst="roundRect">
            <a:avLst>
              <a:gd name="adj" fmla="val 11940"/>
            </a:avLst>
          </a:prstGeom>
          <a:solidFill>
            <a:srgbClr val="FFE0E1"/>
          </a:solidFill>
          <a:ln w="12700">
            <a:solidFill>
              <a:srgbClr val="EF5F64"/>
            </a:solidFill>
            <a:prstDash val="solid"/>
          </a:ln>
        </p:spPr>
      </p:sp>
      <p:sp>
        <p:nvSpPr>
          <p:cNvPr id="21" name="Warnzeichen"/>
          <p:cNvSpPr txBox="1"/>
          <p:nvPr/>
        </p:nvSpPr>
        <p:spPr>
          <a:xfrm>
            <a:off x="5120640" y="4206240"/>
            <a:ext cx="2743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5F64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!</a:t>
            </a:r>
            <a:endParaRPr lang="en-US" sz="1600" dirty="0"/>
          </a:p>
        </p:txBody>
      </p:sp>
      <p:sp>
        <p:nvSpPr>
          <p:cNvPr id="22" name="Warntext"/>
          <p:cNvSpPr txBox="1"/>
          <p:nvPr/>
        </p:nvSpPr>
        <p:spPr>
          <a:xfrm>
            <a:off x="5458968" y="4206240"/>
            <a:ext cx="41605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Ein grüner Haken in der Schrittleiste bedeutet nicht, dass der Vertrag aktiv ist.</a:t>
            </a:r>
            <a:r>
              <a:rPr lang="en-US" sz="900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Erst der Vertragsstatus „aktiv“ nach Prüfung und Aktivierung (Kapitel 8) ist verbindlich.</a:t>
            </a:r>
            <a:endParaRPr lang="en-US" sz="900" dirty="0"/>
          </a:p>
        </p:txBody>
      </p:sp>
      <p:sp>
        <p:nvSpPr>
          <p:cNvPr id="23" name="Schritte"/>
          <p:cNvSpPr txBox="1"/>
          <p:nvPr/>
        </p:nvSpPr>
        <p:spPr>
          <a:xfrm>
            <a:off x="5065776" y="4928616"/>
            <a:ext cx="4645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5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Übernehmen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Leads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aus dem CRM und geben Sie Ergebnisse zurück (3.6); beachten Sie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Systemübergaben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an OTR, VEGA und oneERP (3.7).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6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Lesen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Statusinformationen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richtig (3.8): Antragsstatus, Signaturstatus und Vertragsstatus sind getrennte Größen.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7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Stellen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Arbeitskontext und Sprache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ein (3.9); Dokumente folgen der Sprachvariante des Marktes (Kapitel 7.4).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Grundlagen, Navigation und Customer Journey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Pkw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Kapitel 3 des oneSCM-Handbuchs zusammen. Details, Bildschirmbilder und Nachweise finden Sie im Handbuch.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2/2</a:t>
            </a:r>
            <a:endParaRPr lang="en-US" sz="700" dirty="0"/>
          </a:p>
        </p:txBody>
      </p:sp>
      <p:sp>
        <p:nvSpPr>
          <p:cNvPr id="8" name="Rollen und Voraussetzungen"/>
          <p:cNvSpPr/>
          <p:nvPr/>
        </p:nvSpPr>
        <p:spPr>
          <a:xfrm>
            <a:off x="201168" y="713232"/>
            <a:ext cx="4663440" cy="2112264"/>
          </a:xfrm>
          <a:prstGeom prst="roundRect">
            <a:avLst>
              <a:gd name="adj" fmla="val 432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Rollen und Voraussetzungen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4480560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Beteiligte Rollen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Alle Rollen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Navigation, Suche, Statusverständnis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Dealer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Customer Journey vom Lead bis zum Vertrag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MO/Markt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Statusinformationen und Systemübergaben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Voraussetzungen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Erfolgreicher Login mit korrektem Kontext (Kapitel 2)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Grundkenntnis der Prozesslandkarte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Persönlicher Arbeitskontext und Sprache sind eingestellt</a:t>
            </a:r>
            <a:endParaRPr lang="en-US" sz="900" dirty="0"/>
          </a:p>
        </p:txBody>
      </p:sp>
      <p:sp>
        <p:nvSpPr>
          <p:cNvPr id="11" name="Checkliste vor dem Abschluss"/>
          <p:cNvSpPr/>
          <p:nvPr/>
        </p:nvSpPr>
        <p:spPr>
          <a:xfrm>
            <a:off x="201168" y="2935224"/>
            <a:ext cx="4663440" cy="1197864"/>
          </a:xfrm>
          <a:prstGeom prst="roundRect">
            <a:avLst>
              <a:gd name="adj" fmla="val 7634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2" name="Kartentitel"/>
          <p:cNvSpPr txBox="1"/>
          <p:nvPr/>
        </p:nvSpPr>
        <p:spPr>
          <a:xfrm>
            <a:off x="310896" y="3008376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Checkliste vor dem Abschluss</a:t>
            </a:r>
            <a:endParaRPr lang="en-US" sz="1100" dirty="0"/>
          </a:p>
        </p:txBody>
      </p:sp>
      <p:sp>
        <p:nvSpPr>
          <p:cNvPr id="13" name="Karteninhalt"/>
          <p:cNvSpPr txBox="1"/>
          <p:nvPr/>
        </p:nvSpPr>
        <p:spPr>
          <a:xfrm>
            <a:off x="310896" y="3282696"/>
            <a:ext cx="448056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Startseite und Hauptmenü sind bekannt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Suche nach Referenznummer und FIN funktioniert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Prozessphase des Vorgangs ist klar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Sprache und Arbeitskontext sind gesetzt</a:t>
            </a:r>
            <a:endParaRPr lang="en-US" sz="900" dirty="0"/>
          </a:p>
        </p:txBody>
      </p:sp>
      <p:sp>
        <p:nvSpPr>
          <p:cNvPr id="14" name="Hinweise und Stolpersteine"/>
          <p:cNvSpPr/>
          <p:nvPr/>
        </p:nvSpPr>
        <p:spPr>
          <a:xfrm>
            <a:off x="201168" y="4242816"/>
            <a:ext cx="4663440" cy="1170432"/>
          </a:xfrm>
          <a:prstGeom prst="roundRect">
            <a:avLst>
              <a:gd name="adj" fmla="val 7813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5" name="Kartentitel"/>
          <p:cNvSpPr txBox="1"/>
          <p:nvPr/>
        </p:nvSpPr>
        <p:spPr>
          <a:xfrm>
            <a:off x="310896" y="431596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Hinweise und Stolpersteine</a:t>
            </a:r>
            <a:endParaRPr lang="en-US" sz="1100" dirty="0"/>
          </a:p>
        </p:txBody>
      </p:sp>
      <p:sp>
        <p:nvSpPr>
          <p:cNvPr id="16" name="Karteninhalt"/>
          <p:cNvSpPr txBox="1"/>
          <p:nvPr/>
        </p:nvSpPr>
        <p:spPr>
          <a:xfrm>
            <a:off x="310896" y="4590288"/>
            <a:ext cx="44805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Die Statusübersicht mit zulässigen Übergängen steht in Kapitel 8.2 und in Anhang D.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Die Suche findet nur Vorgänge im eigenen Markt- und Betriebskontext.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Browser-Zoom unter 100 % blendet Spalten aus; nutzen Sie den Schieberegler.</a:t>
            </a:r>
            <a:endParaRPr lang="en-US" sz="900" dirty="0"/>
          </a:p>
        </p:txBody>
      </p:sp>
      <p:sp>
        <p:nvSpPr>
          <p:cNvPr id="17" name="FAQ"/>
          <p:cNvSpPr/>
          <p:nvPr/>
        </p:nvSpPr>
        <p:spPr>
          <a:xfrm>
            <a:off x="5047488" y="713232"/>
            <a:ext cx="4663440" cy="1536192"/>
          </a:xfrm>
          <a:prstGeom prst="roundRect">
            <a:avLst>
              <a:gd name="adj" fmla="val 5952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8" name="FAQ Inhalt"/>
          <p:cNvSpPr txBox="1"/>
          <p:nvPr/>
        </p:nvSpPr>
        <p:spPr>
          <a:xfrm>
            <a:off x="5157216" y="786384"/>
            <a:ext cx="4443984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Häufig gestellte Fragen und Antworten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Wo finde ich einen gespeicherten Antrag wieder?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Unter Vertragserstellung › Antragsverwaltung über die Referenznummer (Kapitel 8.1).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Was ist der Unterschied zwischen Angebot und Antrag?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Das Angebot ist eine Preisinformation ohne Bindung; der Antrag wird gespeichert, unterschrieben, geprüft und aktiviert.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Kann ich die Oberfläche in einer anderen Sprache nutzen?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Ja, über den persönlichen Arbeitskontext (3.9); Vertragsdokumente folgen den Sprachvarianten des Marktes.</a:t>
            </a:r>
            <a:endParaRPr lang="en-US" sz="900" dirty="0"/>
          </a:p>
        </p:txBody>
      </p:sp>
      <p:sp>
        <p:nvSpPr>
          <p:cNvPr id="19" name="Wichtige Links und Ansprechpartner"/>
          <p:cNvSpPr/>
          <p:nvPr/>
        </p:nvSpPr>
        <p:spPr>
          <a:xfrm>
            <a:off x="5047488" y="2359152"/>
            <a:ext cx="4663440" cy="1490472"/>
          </a:xfrm>
          <a:prstGeom prst="roundRect">
            <a:avLst>
              <a:gd name="adj" fmla="val 6135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20" name="Kartentitel"/>
          <p:cNvSpPr txBox="1"/>
          <p:nvPr/>
        </p:nvSpPr>
        <p:spPr>
          <a:xfrm>
            <a:off x="5157216" y="243230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Wichtige Links und Ansprechpartner</a:t>
            </a:r>
            <a:endParaRPr lang="en-US" sz="1100" dirty="0"/>
          </a:p>
        </p:txBody>
      </p:sp>
      <p:sp>
        <p:nvSpPr>
          <p:cNvPr id="21" name="Karteninhalt"/>
          <p:cNvSpPr txBox="1"/>
          <p:nvPr/>
        </p:nvSpPr>
        <p:spPr>
          <a:xfrm>
            <a:off x="5157216" y="2706624"/>
            <a:ext cx="4480560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Handbuch oneSCM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Vollständige Kapitel mit Bildschirmbildern, Rollen-, Status- und Scopematrizen (Anhang D).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Prozessdiagramme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Anhang C mit Prozesslandkarte und Teilprozessen.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Glossar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Anhang A mit Begriffen und Abkürzungen.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Support und Eskalation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Supportfall mit Referenznummer, Markt, Sparte und Bildschirmbild melden (Kapitel 23.4 und 23.5).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oneSCM – Grundlagen, Navigation und Customer Journey</dc:title>
  <dc:subject>PptxGenJS Presentation</dc:subject>
  <dc:creator>oneSCM Quick Guide</dc:creator>
  <cp:lastModifiedBy>oneSCM Quick Guide</cp:lastModifiedBy>
  <cp:revision>1</cp:revision>
  <dcterms:created xsi:type="dcterms:W3CDTF">2026-10-11T15:41:01Z</dcterms:created>
  <dcterms:modified xsi:type="dcterms:W3CDTF">2026-10-11T15:41:01Z</dcterms:modified>
</cp:coreProperties>
</file>