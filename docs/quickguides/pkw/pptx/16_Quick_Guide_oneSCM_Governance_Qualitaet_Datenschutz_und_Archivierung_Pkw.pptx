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906000" cy="6858000"/>
  <p:notesSz cx="6858000" cy="9906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Governance, Qualität, Datenschutz und Archivierung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für Pkw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Hinweis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Dieser Quick Guide fasst Kapitel 16 des oneSCM-Handbuchs zusammen. Details, Bildschirmbilder und Nachweise finden Sie im Handbuch.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STAND: 11.10.2026 | 1/2</a:t>
            </a:r>
            <a:endParaRPr lang="en-US" sz="700" dirty="0"/>
          </a:p>
        </p:txBody>
      </p:sp>
      <p:sp>
        <p:nvSpPr>
          <p:cNvPr id="8" name="Ziel und Nutzen"/>
          <p:cNvSpPr/>
          <p:nvPr/>
        </p:nvSpPr>
        <p:spPr>
          <a:xfrm>
            <a:off x="201168" y="713232"/>
            <a:ext cx="4663440" cy="1581912"/>
          </a:xfrm>
          <a:prstGeom prst="roundRect">
            <a:avLst>
              <a:gd name="adj" fmla="val 5780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Ziel und Nutzen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2633472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Sie beachten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Datenschutz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und sichere Beispieldaten, sichern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Datenqualität und Datenführerschaft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nutzen den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Freigabeworkflow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dokumentieren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Testnachweise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unterscheiden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Dokumentenverwaltung und Archivierung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führen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Quellen, Tickets und Versionen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sowie das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Klärungsregister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(Kapitel 16.1 bis 16.8).</a:t>
            </a:r>
            <a:endParaRPr lang="en-US" sz="900" dirty="0"/>
          </a:p>
        </p:txBody>
      </p:sp>
      <p:pic>
        <p:nvPicPr>
          <p:cNvPr id="11" name="Kapitelbild" descr="/tmp/claude-0/-home-user-step2-oneSCM/768b354c-b2c6-524c-b102-2abaf010b0fe/scratchpad/qg/src/img/badge_16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5808" y="804672"/>
            <a:ext cx="1737360" cy="1051560"/>
          </a:xfrm>
          <a:prstGeom prst="rect">
            <a:avLst/>
          </a:prstGeom>
        </p:spPr>
      </p:pic>
      <p:sp>
        <p:nvSpPr>
          <p:cNvPr id="12" name="Hinweis"/>
          <p:cNvSpPr txBox="1"/>
          <p:nvPr/>
        </p:nvSpPr>
        <p:spPr>
          <a:xfrm>
            <a:off x="201168" y="2404872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Dieses Dokument ist interaktiv – Verweise auf Handbuchkapitel und Systeme sind als Links hinterlegt.</a:t>
            </a:r>
            <a:endParaRPr lang="en-US" sz="900" dirty="0"/>
          </a:p>
        </p:txBody>
      </p:sp>
      <p:sp>
        <p:nvSpPr>
          <p:cNvPr id="13" name="Überblick Titel"/>
          <p:cNvSpPr txBox="1"/>
          <p:nvPr/>
        </p:nvSpPr>
        <p:spPr>
          <a:xfrm>
            <a:off x="201168" y="2843784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Die Themen im Überblick</a:t>
            </a:r>
            <a:endParaRPr lang="en-US" sz="1100" dirty="0"/>
          </a:p>
        </p:txBody>
      </p:sp>
      <p:sp>
        <p:nvSpPr>
          <p:cNvPr id="14" name="Überblick Spalte"/>
          <p:cNvSpPr txBox="1"/>
          <p:nvPr/>
        </p:nvSpPr>
        <p:spPr>
          <a:xfrm>
            <a:off x="201168" y="3118104"/>
            <a:ext cx="2240280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16.1 – 16.4 Datenschutz und Qualität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Datenschutz und sichere Beispieldaten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Datenqualität und Datenführerschaft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Fachliche Prüfung und Freigabeworkflow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Testnachweise und produktiver Funktionsstand</a:t>
            </a:r>
            <a:endParaRPr lang="en-US" sz="900" dirty="0"/>
          </a:p>
        </p:txBody>
      </p:sp>
      <p:sp>
        <p:nvSpPr>
          <p:cNvPr id="15" name="Überblick Spalte"/>
          <p:cNvSpPr txBox="1"/>
          <p:nvPr/>
        </p:nvSpPr>
        <p:spPr>
          <a:xfrm>
            <a:off x="2624328" y="3118104"/>
            <a:ext cx="2240280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16.5 – 16.8 Nachweise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Dokumentenverwaltung und Archivierung unterscheiden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Quellen, Ticketreferenzen und Versionsführung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Widersprüche, Lücken und Klärungsregister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Dealer-Governance und Reportingnachweise</a:t>
            </a:r>
            <a:endParaRPr lang="en-US" sz="900" dirty="0"/>
          </a:p>
        </p:txBody>
      </p:sp>
      <p:pic>
        <p:nvPicPr>
          <p:cNvPr id="16" name="Prozessbild" descr="/tmp/claude-0/-home-user-step2-oneSCM/768b354c-b2c6-524c-b102-2abaf010b0fe/scratchpad/qg/src/img/landscape_16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168" y="4837176"/>
            <a:ext cx="4663440" cy="1207008"/>
          </a:xfrm>
          <a:prstGeom prst="rect">
            <a:avLst/>
          </a:prstGeom>
        </p:spPr>
      </p:pic>
      <p:pic>
        <p:nvPicPr>
          <p:cNvPr id="17" name="Prozessbild" descr="/tmp/claude-0/-home-user-step2-oneSCM/768b354c-b2c6-524c-b102-2abaf010b0fe/scratchpad/qg/src/img/flow_16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7488" y="713232"/>
            <a:ext cx="4663440" cy="1508760"/>
          </a:xfrm>
          <a:prstGeom prst="rect">
            <a:avLst/>
          </a:prstGeom>
        </p:spPr>
      </p:pic>
      <p:sp>
        <p:nvSpPr>
          <p:cNvPr id="18" name="Abschnittstitel"/>
          <p:cNvSpPr txBox="1"/>
          <p:nvPr/>
        </p:nvSpPr>
        <p:spPr>
          <a:xfrm>
            <a:off x="5047488" y="233172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So gehen Sie vor</a:t>
            </a:r>
            <a:endParaRPr lang="en-US" sz="1100" dirty="0"/>
          </a:p>
        </p:txBody>
      </p:sp>
      <p:sp>
        <p:nvSpPr>
          <p:cNvPr id="19" name="Schritte"/>
          <p:cNvSpPr txBox="1"/>
          <p:nvPr/>
        </p:nvSpPr>
        <p:spPr>
          <a:xfrm>
            <a:off x="5065776" y="2606040"/>
            <a:ext cx="4645152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Verwenden Sie in Schulung, Tickets und Bildschirmbildern nur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sichere Beispieldaten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; keine echten Kunden- oder Bankdaten (16.1).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2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Beachten Sie die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Datenführerschaft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(16.2): Das führende System (z. B. oneERP für Kunden) ist maßgeblich; Korrekturen erfolgen dort.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3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Durchlaufen Sie den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Freigabeworkflow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(16.3): fachliche Prüfung, Freigabe, Dokumentation.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4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Hinterlegen Sie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Testnachweise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und halten Sie den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produktiven Funktionsstand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fest (16.4).</a:t>
            </a:r>
            <a:endParaRPr lang="en-US" sz="900" dirty="0"/>
          </a:p>
        </p:txBody>
      </p:sp>
      <p:sp>
        <p:nvSpPr>
          <p:cNvPr id="20" name="Warnhinweis"/>
          <p:cNvSpPr/>
          <p:nvPr/>
        </p:nvSpPr>
        <p:spPr>
          <a:xfrm>
            <a:off x="5047488" y="4059936"/>
            <a:ext cx="4663440" cy="612648"/>
          </a:xfrm>
          <a:prstGeom prst="roundRect">
            <a:avLst>
              <a:gd name="adj" fmla="val 11940"/>
            </a:avLst>
          </a:prstGeom>
          <a:solidFill>
            <a:srgbClr val="FFE0E1"/>
          </a:solidFill>
          <a:ln w="12700">
            <a:solidFill>
              <a:srgbClr val="EF5F64"/>
            </a:solidFill>
            <a:prstDash val="solid"/>
          </a:ln>
        </p:spPr>
      </p:sp>
      <p:sp>
        <p:nvSpPr>
          <p:cNvPr id="21" name="Warnzeichen"/>
          <p:cNvSpPr txBox="1"/>
          <p:nvPr/>
        </p:nvSpPr>
        <p:spPr>
          <a:xfrm>
            <a:off x="5120640" y="4059936"/>
            <a:ext cx="2743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5F64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!</a:t>
            </a:r>
            <a:endParaRPr lang="en-US" sz="1600" dirty="0"/>
          </a:p>
        </p:txBody>
      </p:sp>
      <p:sp>
        <p:nvSpPr>
          <p:cNvPr id="22" name="Warntext"/>
          <p:cNvSpPr txBox="1"/>
          <p:nvPr/>
        </p:nvSpPr>
        <p:spPr>
          <a:xfrm>
            <a:off x="5458968" y="4059936"/>
            <a:ext cx="41605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Personenbezogene Daten gehören nie in Kommentare, Tickets oder Bildschirmbilder.</a:t>
            </a:r>
            <a:r>
              <a:rPr lang="en-US" sz="900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Verwenden Sie den Testdatenkatalog (Anhang I.3) und anonymisieren Sie Beispiele.</a:t>
            </a:r>
            <a:endParaRPr lang="en-US" sz="900" dirty="0"/>
          </a:p>
        </p:txBody>
      </p:sp>
      <p:sp>
        <p:nvSpPr>
          <p:cNvPr id="23" name="Schritte"/>
          <p:cNvSpPr txBox="1"/>
          <p:nvPr/>
        </p:nvSpPr>
        <p:spPr>
          <a:xfrm>
            <a:off x="5065776" y="4782312"/>
            <a:ext cx="4645152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5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Unterscheiden Sie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Dokumentenverwaltung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(laufender Vorgang) und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Archivierung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(rechtssichere Ablage) (16.5).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6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Führen Sie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Quellen, Ticketreferenzen und Versionen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(16.6) und tragen Sie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Widersprüche und Lücken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ins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Klärungsregister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ein (16.7).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7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Sichern Sie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Dealer-Governance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und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Reportingnachweise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(16.8).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Governance, Qualität, Datenschutz und Archivierung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für Pkw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Hinweis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Dieser Quick Guide fasst Kapitel 16 des oneSCM-Handbuchs zusammen. Details, Bildschirmbilder und Nachweise finden Sie im Handbuch.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STAND: 11.10.2026 | 2/2</a:t>
            </a:r>
            <a:endParaRPr lang="en-US" sz="700" dirty="0"/>
          </a:p>
        </p:txBody>
      </p:sp>
      <p:sp>
        <p:nvSpPr>
          <p:cNvPr id="8" name="Rollen und Voraussetzungen"/>
          <p:cNvSpPr/>
          <p:nvPr/>
        </p:nvSpPr>
        <p:spPr>
          <a:xfrm>
            <a:off x="201168" y="713232"/>
            <a:ext cx="4663440" cy="2112264"/>
          </a:xfrm>
          <a:prstGeom prst="roundRect">
            <a:avLst>
              <a:gd name="adj" fmla="val 4329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Rollen und Voraussetzungen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4480560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Beteiligte Rollen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Alle Rollen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Datenschutz und Datenqualität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Markt/HQ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Freigabeworkflow, Versionsführung, Governance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Dealer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Dealer-Governance und Reportingnachweise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Voraussetzungen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Kenntnis der Datenschutzregeln des Konzerns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Zugriff auf Klärungsregister und Ticketreferenzen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Freigabestufen des Marktes bekannt</a:t>
            </a:r>
            <a:endParaRPr lang="en-US" sz="900" dirty="0"/>
          </a:p>
        </p:txBody>
      </p:sp>
      <p:sp>
        <p:nvSpPr>
          <p:cNvPr id="11" name="Checkliste vor dem Abschluss"/>
          <p:cNvSpPr/>
          <p:nvPr/>
        </p:nvSpPr>
        <p:spPr>
          <a:xfrm>
            <a:off x="201168" y="2935224"/>
            <a:ext cx="4663440" cy="1197864"/>
          </a:xfrm>
          <a:prstGeom prst="roundRect">
            <a:avLst>
              <a:gd name="adj" fmla="val 7634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2" name="Kartentitel"/>
          <p:cNvSpPr txBox="1"/>
          <p:nvPr/>
        </p:nvSpPr>
        <p:spPr>
          <a:xfrm>
            <a:off x="310896" y="3008376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Checkliste vor dem Abschluss</a:t>
            </a:r>
            <a:endParaRPr lang="en-US" sz="1100" dirty="0"/>
          </a:p>
        </p:txBody>
      </p:sp>
      <p:sp>
        <p:nvSpPr>
          <p:cNvPr id="13" name="Karteninhalt"/>
          <p:cNvSpPr txBox="1"/>
          <p:nvPr/>
        </p:nvSpPr>
        <p:spPr>
          <a:xfrm>
            <a:off x="310896" y="3282696"/>
            <a:ext cx="448056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Beispiele anonymisiert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Führendes System beachtet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Freigabe dokumentiert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Klärungsregister aktualisiert</a:t>
            </a:r>
            <a:endParaRPr lang="en-US" sz="900" dirty="0"/>
          </a:p>
        </p:txBody>
      </p:sp>
      <p:sp>
        <p:nvSpPr>
          <p:cNvPr id="14" name="Hinweise und Stolpersteine"/>
          <p:cNvSpPr/>
          <p:nvPr/>
        </p:nvSpPr>
        <p:spPr>
          <a:xfrm>
            <a:off x="201168" y="4242816"/>
            <a:ext cx="4663440" cy="1014984"/>
          </a:xfrm>
          <a:prstGeom prst="roundRect">
            <a:avLst>
              <a:gd name="adj" fmla="val 9009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5" name="Kartentitel"/>
          <p:cNvSpPr txBox="1"/>
          <p:nvPr/>
        </p:nvSpPr>
        <p:spPr>
          <a:xfrm>
            <a:off x="310896" y="431596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Hinweise und Stolpersteine</a:t>
            </a:r>
            <a:endParaRPr lang="en-US" sz="1100" dirty="0"/>
          </a:p>
        </p:txBody>
      </p:sp>
      <p:sp>
        <p:nvSpPr>
          <p:cNvPr id="16" name="Karteninhalt"/>
          <p:cNvSpPr txBox="1"/>
          <p:nvPr/>
        </p:nvSpPr>
        <p:spPr>
          <a:xfrm>
            <a:off x="310896" y="4590288"/>
            <a:ext cx="44805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Archivierte Dokumente sind unveränderlich; Korrekturen erzeugen neue Versionen.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Jede Handbuchaussage hat eine Quelle oder Ticketreferenz (Anhang F).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Das Klärungsregister ist Pflichtlektüre vor Releases (Kapitel 22).</a:t>
            </a:r>
            <a:endParaRPr lang="en-US" sz="900" dirty="0"/>
          </a:p>
        </p:txBody>
      </p:sp>
      <p:sp>
        <p:nvSpPr>
          <p:cNvPr id="17" name="FAQ"/>
          <p:cNvSpPr/>
          <p:nvPr/>
        </p:nvSpPr>
        <p:spPr>
          <a:xfrm>
            <a:off x="5047488" y="713232"/>
            <a:ext cx="4663440" cy="1536192"/>
          </a:xfrm>
          <a:prstGeom prst="roundRect">
            <a:avLst>
              <a:gd name="adj" fmla="val 5952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8" name="FAQ Inhalt"/>
          <p:cNvSpPr txBox="1"/>
          <p:nvPr/>
        </p:nvSpPr>
        <p:spPr>
          <a:xfrm>
            <a:off x="5157216" y="786384"/>
            <a:ext cx="4443984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Häufig gestellte Fragen und Antworten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Darf ich ein Bildschirmbild mit Kundendaten an den Support senden?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Nur anonymisiert oder mit Testdaten; echte Daten sind zu schwärzen (16.1).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Was ist der Unterschied zwischen Dokumentenverwaltung und Archivierung?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Dokumentenverwaltung begleitet den Vorgang, Archivierung ist die rechtssichere, unveränderliche Ablage (16.5).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Wo melde ich einen Widerspruch im Handbuch?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Im Klärungsregister mit Kapitel, Quelle und Ticketreferenz (16.7 und Anhang F).</a:t>
            </a:r>
            <a:endParaRPr lang="en-US" sz="900" dirty="0"/>
          </a:p>
        </p:txBody>
      </p:sp>
      <p:sp>
        <p:nvSpPr>
          <p:cNvPr id="19" name="Wichtige Links und Ansprechpartner"/>
          <p:cNvSpPr/>
          <p:nvPr/>
        </p:nvSpPr>
        <p:spPr>
          <a:xfrm>
            <a:off x="5047488" y="2359152"/>
            <a:ext cx="4663440" cy="1490472"/>
          </a:xfrm>
          <a:prstGeom prst="roundRect">
            <a:avLst>
              <a:gd name="adj" fmla="val 6135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20" name="Kartentitel"/>
          <p:cNvSpPr txBox="1"/>
          <p:nvPr/>
        </p:nvSpPr>
        <p:spPr>
          <a:xfrm>
            <a:off x="5157216" y="243230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Wichtige Links und Ansprechpartner</a:t>
            </a:r>
            <a:endParaRPr lang="en-US" sz="1100" dirty="0"/>
          </a:p>
        </p:txBody>
      </p:sp>
      <p:sp>
        <p:nvSpPr>
          <p:cNvPr id="21" name="Karteninhalt"/>
          <p:cNvSpPr txBox="1"/>
          <p:nvPr/>
        </p:nvSpPr>
        <p:spPr>
          <a:xfrm>
            <a:off x="5157216" y="2706624"/>
            <a:ext cx="448056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Quellen und Klärungsregister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Anhang F.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Testdatenkatalog und Nachweise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Anhang I.3.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Handbuch oneSCM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Vollständige Kapitel mit Bildschirmbildern, Rollen-, Status- und Scopematrizen (Anhang D).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Support und Eskalation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Supportfall mit Referenznummer, Markt, Sparte und Bildschirmbild melden (Kapitel 23.4 und 23.5).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oneSCM – Governance, Qualität, Datenschutz und Archivierung</dc:title>
  <dc:subject>PptxGenJS Presentation</dc:subject>
  <dc:creator>oneSCM Quick Guide</dc:creator>
  <cp:lastModifiedBy>oneSCM Quick Guide</cp:lastModifiedBy>
  <cp:revision>1</cp:revision>
  <dcterms:created xsi:type="dcterms:W3CDTF">2026-10-11T15:41:03Z</dcterms:created>
  <dcterms:modified xsi:type="dcterms:W3CDTF">2026-10-11T15:41:03Z</dcterms:modified>
</cp:coreProperties>
</file>