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</p:sldIdLst>
  <p:notesMasterIdLst>
    <p:notesMasterId r:id="rId4"/>
  </p:notesMasterIdLst>
  <p:sldSz cx="9906000" cy="6858000"/>
  <p:notesSz cx="6858000" cy="9906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notesMaster" Target="notesMasters/notesMaster1.xml"/><Relationship Id="rId5" Type="http://schemas.openxmlformats.org/officeDocument/2006/relationships/presProps" Target="presProps.xml"/><Relationship Id="rId6" Type="http://schemas.openxmlformats.org/officeDocument/2006/relationships/viewProps" Target="viewProps.xml"/><Relationship Id="rId7" Type="http://schemas.openxmlformats.org/officeDocument/2006/relationships/theme" Target="theme/theme1.xml"/><Relationship Id="rId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image" Target="../media/image-1-3.png"/><Relationship Id="rId4" Type="http://schemas.openxmlformats.org/officeDocument/2006/relationships/image" Target="../media/image-1-4.png"/><Relationship Id="rId5" Type="http://schemas.openxmlformats.org/officeDocument/2006/relationships/image" Target="../media/image-1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Hintergrund" descr="/tmp/claude-0/-home-user-step2-oneSCM/768b354c-b2c6-524c-b102-2abaf010b0fe/scratchpad/qg/src/stars_bg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906000" cy="6858000"/>
          </a:xfrm>
          <a:prstGeom prst="rect">
            <a:avLst/>
          </a:prstGeom>
        </p:spPr>
      </p:pic>
      <p:sp>
        <p:nvSpPr>
          <p:cNvPr id="3" name="Titel"/>
          <p:cNvSpPr txBox="1"/>
          <p:nvPr/>
        </p:nvSpPr>
        <p:spPr>
          <a:xfrm>
            <a:off x="201168" y="128016"/>
            <a:ext cx="7863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400" dirty="0">
                <a:solidFill>
                  <a:srgbClr val="262626"/>
                </a:solidFill>
                <a:latin typeface="MB Corpo A Title Cond Office" pitchFamily="34" charset="0"/>
                <a:ea typeface="MB Corpo A Title Cond Office" pitchFamily="34" charset="-122"/>
                <a:cs typeface="MB Corpo A Title Cond Office" pitchFamily="34" charset="-120"/>
              </a:rPr>
              <a:t>oneSCM – Anhang D.1: Rollen-/Status-/Scopematrizen</a:t>
            </a:r>
            <a:endParaRPr lang="en-US" sz="2400" dirty="0"/>
          </a:p>
        </p:txBody>
      </p:sp>
      <p:pic>
        <p:nvPicPr>
          <p:cNvPr id="4" name="Logo Stern" descr="/tmp/claude-0/-home-user-step2-oneSCM/768b354c-b2c6-524c-b102-2abaf010b0fe/scratchpad/qg/src/star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549640" y="118872"/>
            <a:ext cx="457200" cy="438912"/>
          </a:xfrm>
          <a:prstGeom prst="rect">
            <a:avLst/>
          </a:prstGeom>
        </p:spPr>
      </p:pic>
      <p:sp>
        <p:nvSpPr>
          <p:cNvPr id="5" name="Logo Text"/>
          <p:cNvSpPr txBox="1"/>
          <p:nvPr/>
        </p:nvSpPr>
        <p:spPr>
          <a:xfrm>
            <a:off x="9052560" y="109728"/>
            <a:ext cx="8229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0000"/>
              </a:lnSpc>
              <a:buNone/>
            </a:pPr>
            <a:r>
              <a:rPr lang="en-US" sz="1400" dirty="0">
                <a:solidFill>
                  <a:srgbClr val="262626"/>
                </a:solidFill>
                <a:latin typeface="MB Corpo A Title Cond Office" pitchFamily="34" charset="0"/>
                <a:ea typeface="MB Corpo A Title Cond Office" pitchFamily="34" charset="-122"/>
                <a:cs typeface="MB Corpo A Title Cond Office" pitchFamily="34" charset="-120"/>
              </a:rPr>
              <a:t>oneSCM</a:t>
            </a:r>
            <a:endParaRPr lang="en-US" sz="1400" dirty="0"/>
          </a:p>
          <a:p>
            <a:pPr indent="0" marL="0">
              <a:lnSpc>
                <a:spcPct val="90000"/>
              </a:lnSpc>
              <a:buNone/>
            </a:pPr>
            <a:r>
              <a:rPr lang="en-US" sz="1300" i="1" dirty="0">
                <a:solidFill>
                  <a:srgbClr val="B21E23"/>
                </a:solidFill>
                <a:latin typeface="MB Corpo A Title Cond Office" pitchFamily="34" charset="0"/>
                <a:ea typeface="MB Corpo A Title Cond Office" pitchFamily="34" charset="-122"/>
                <a:cs typeface="MB Corpo A Title Cond Office" pitchFamily="34" charset="-120"/>
              </a:rPr>
              <a:t>für Pkw</a:t>
            </a:r>
            <a:endParaRPr lang="en-US" sz="1400" dirty="0"/>
          </a:p>
        </p:txBody>
      </p:sp>
      <p:sp>
        <p:nvSpPr>
          <p:cNvPr id="6" name="Fußzeile Hinweis"/>
          <p:cNvSpPr txBox="1"/>
          <p:nvPr/>
        </p:nvSpPr>
        <p:spPr>
          <a:xfrm>
            <a:off x="201168" y="6510528"/>
            <a:ext cx="7498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Hinweis</a:t>
            </a:r>
            <a:r>
              <a:rPr lang="en-US" sz="8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: Dieser Quick Guide fasst Anhang D.1 des oneSCM-Handbuchs zusammen. Details, Bildschirmbilder und Nachweise finden Sie im Handbuch.</a:t>
            </a:r>
            <a:endParaRPr lang="en-US" sz="800" dirty="0"/>
          </a:p>
        </p:txBody>
      </p:sp>
      <p:sp>
        <p:nvSpPr>
          <p:cNvPr id="7" name="Stand"/>
          <p:cNvSpPr txBox="1"/>
          <p:nvPr/>
        </p:nvSpPr>
        <p:spPr>
          <a:xfrm>
            <a:off x="7772400" y="6510528"/>
            <a:ext cx="1920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00" spc="250" kern="0" dirty="0">
                <a:solidFill>
                  <a:srgbClr val="404040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STAND: 11.10.2026 | 1/2</a:t>
            </a:r>
            <a:endParaRPr lang="en-US" sz="700" dirty="0"/>
          </a:p>
        </p:txBody>
      </p:sp>
      <p:sp>
        <p:nvSpPr>
          <p:cNvPr id="8" name="Ziel und Nutzen"/>
          <p:cNvSpPr/>
          <p:nvPr/>
        </p:nvSpPr>
        <p:spPr>
          <a:xfrm>
            <a:off x="201168" y="713232"/>
            <a:ext cx="4663440" cy="1234440"/>
          </a:xfrm>
          <a:prstGeom prst="roundRect">
            <a:avLst>
              <a:gd name="adj" fmla="val 7407"/>
            </a:avLst>
          </a:prstGeom>
          <a:solidFill>
            <a:srgbClr val="EFF8FF">
              <a:alpha val="70000"/>
            </a:srgbClr>
          </a:solidFill>
          <a:ln w="6350">
            <a:solidFill>
              <a:srgbClr val="00ADEF"/>
            </a:solidFill>
            <a:prstDash val="solid"/>
          </a:ln>
        </p:spPr>
      </p:sp>
      <p:sp>
        <p:nvSpPr>
          <p:cNvPr id="9" name="Kartentitel"/>
          <p:cNvSpPr txBox="1"/>
          <p:nvPr/>
        </p:nvSpPr>
        <p:spPr>
          <a:xfrm>
            <a:off x="310896" y="786384"/>
            <a:ext cx="263347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262626"/>
                </a:solidFill>
                <a:latin typeface="MB Corpo A Title Cond Office" pitchFamily="34" charset="0"/>
                <a:ea typeface="MB Corpo A Title Cond Office" pitchFamily="34" charset="-122"/>
                <a:cs typeface="MB Corpo A Title Cond Office" pitchFamily="34" charset="-120"/>
              </a:rPr>
              <a:t>Ziel und Nutzen</a:t>
            </a:r>
            <a:endParaRPr lang="en-US" sz="1100" dirty="0"/>
          </a:p>
        </p:txBody>
      </p:sp>
      <p:sp>
        <p:nvSpPr>
          <p:cNvPr id="10" name="Karteninhalt"/>
          <p:cNvSpPr txBox="1"/>
          <p:nvPr/>
        </p:nvSpPr>
        <p:spPr>
          <a:xfrm>
            <a:off x="310896" y="1060704"/>
            <a:ext cx="2633472" cy="8321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Die 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Matrizen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zeigen, welche 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Rolle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welche Aktion darf, welche 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Statusübergänge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zulässig sind und welcher 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Scope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(Markt, Sparte, Betrieb) für Sichtbarkeit und Bearbeitung gilt.</a:t>
            </a:r>
            <a:endParaRPr lang="en-US" sz="900" dirty="0"/>
          </a:p>
        </p:txBody>
      </p:sp>
      <p:pic>
        <p:nvPicPr>
          <p:cNvPr id="11" name="Kapitelbild" descr="/tmp/claude-0/-home-user-step2-oneSCM/768b354c-b2c6-524c-b102-2abaf010b0fe/scratchpad/qg/src/img/badge_D1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035808" y="804672"/>
            <a:ext cx="1737360" cy="1051560"/>
          </a:xfrm>
          <a:prstGeom prst="rect">
            <a:avLst/>
          </a:prstGeom>
        </p:spPr>
      </p:pic>
      <p:sp>
        <p:nvSpPr>
          <p:cNvPr id="12" name="Hinweis"/>
          <p:cNvSpPr txBox="1"/>
          <p:nvPr/>
        </p:nvSpPr>
        <p:spPr>
          <a:xfrm>
            <a:off x="201168" y="2057400"/>
            <a:ext cx="46634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00ADEF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Dieses Dokument ist interaktiv – Verweise auf Handbuchkapitel und Systeme sind als Links hinterlegt.</a:t>
            </a:r>
            <a:endParaRPr lang="en-US" sz="900" dirty="0"/>
          </a:p>
        </p:txBody>
      </p:sp>
      <p:sp>
        <p:nvSpPr>
          <p:cNvPr id="13" name="Überblick Titel"/>
          <p:cNvSpPr txBox="1"/>
          <p:nvPr/>
        </p:nvSpPr>
        <p:spPr>
          <a:xfrm>
            <a:off x="201168" y="2496312"/>
            <a:ext cx="46634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62626"/>
                </a:solidFill>
                <a:latin typeface="MB Corpo A Title Cond Office" pitchFamily="34" charset="0"/>
                <a:ea typeface="MB Corpo A Title Cond Office" pitchFamily="34" charset="-122"/>
                <a:cs typeface="MB Corpo A Title Cond Office" pitchFamily="34" charset="-120"/>
              </a:rPr>
              <a:t>Inhalt im Überblick</a:t>
            </a:r>
            <a:endParaRPr lang="en-US" sz="1100" dirty="0"/>
          </a:p>
        </p:txBody>
      </p:sp>
      <p:sp>
        <p:nvSpPr>
          <p:cNvPr id="14" name="Überblick Spalte"/>
          <p:cNvSpPr txBox="1"/>
          <p:nvPr/>
        </p:nvSpPr>
        <p:spPr>
          <a:xfrm>
            <a:off x="201168" y="2770632"/>
            <a:ext cx="2240280" cy="1307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900" b="1" dirty="0">
                <a:solidFill>
                  <a:srgbClr val="B21E23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Matrizen</a:t>
            </a:r>
            <a:endParaRPr lang="en-US" sz="900" dirty="0"/>
          </a:p>
          <a:p>
            <a:pPr marL="152400" indent="-152400">
              <a:spcAft>
                <a:spcPts val="1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Rollenmatrix: Aktion je Rolle (Dealer, MO, Markt, HQ)</a:t>
            </a:r>
            <a:endParaRPr lang="en-US" sz="900" dirty="0"/>
          </a:p>
          <a:p>
            <a:pPr marL="152400" indent="-152400">
              <a:spcAft>
                <a:spcPts val="1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Statusmatrix: zulässige Übergänge je Objekt (Antrag, Signatur, Vertrag)</a:t>
            </a:r>
            <a:endParaRPr lang="en-US" sz="900" dirty="0"/>
          </a:p>
          <a:p>
            <a:pPr marL="152400" indent="-152400">
              <a:spcAft>
                <a:spcPts val="1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Scopematrix: Sichtbarkeit je Markt, Sparte und Betrieb</a:t>
            </a:r>
            <a:endParaRPr lang="en-US" sz="900" dirty="0"/>
          </a:p>
        </p:txBody>
      </p:sp>
      <p:sp>
        <p:nvSpPr>
          <p:cNvPr id="15" name="Überblick Spalte"/>
          <p:cNvSpPr txBox="1"/>
          <p:nvPr/>
        </p:nvSpPr>
        <p:spPr>
          <a:xfrm>
            <a:off x="2624328" y="2770632"/>
            <a:ext cx="2240280" cy="1307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900" b="1" dirty="0">
                <a:solidFill>
                  <a:srgbClr val="B21E23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Anwendung</a:t>
            </a:r>
            <a:endParaRPr lang="en-US" sz="900" dirty="0"/>
          </a:p>
          <a:p>
            <a:pPr marL="152400" indent="-152400">
              <a:spcAft>
                <a:spcPts val="1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Vor einer Aktion: Darf meine Rolle das?</a:t>
            </a:r>
            <a:endParaRPr lang="en-US" sz="900" dirty="0"/>
          </a:p>
          <a:p>
            <a:pPr marL="152400" indent="-152400">
              <a:spcAft>
                <a:spcPts val="1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Bei Statusfragen: Welcher Übergang ist möglich?</a:t>
            </a:r>
            <a:endParaRPr lang="en-US" sz="900" dirty="0"/>
          </a:p>
          <a:p>
            <a:pPr marL="152400" indent="-152400">
              <a:spcAft>
                <a:spcPts val="1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Bei fehlender Sichtbarkeit: Passt der Scope?</a:t>
            </a:r>
            <a:endParaRPr lang="en-US" sz="900" dirty="0"/>
          </a:p>
        </p:txBody>
      </p:sp>
      <p:pic>
        <p:nvPicPr>
          <p:cNvPr id="16" name="Prozessbild" descr="/tmp/claude-0/-home-user-step2-oneSCM/768b354c-b2c6-524c-b102-2abaf010b0fe/scratchpad/qg/src/img/landscape_D1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01168" y="4187952"/>
            <a:ext cx="4663440" cy="1207008"/>
          </a:xfrm>
          <a:prstGeom prst="rect">
            <a:avLst/>
          </a:prstGeom>
        </p:spPr>
      </p:pic>
      <p:pic>
        <p:nvPicPr>
          <p:cNvPr id="17" name="Prozessbild" descr="/tmp/claude-0/-home-user-step2-oneSCM/768b354c-b2c6-524c-b102-2abaf010b0fe/scratchpad/qg/src/img/flow_D1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047488" y="713232"/>
            <a:ext cx="4663440" cy="960120"/>
          </a:xfrm>
          <a:prstGeom prst="rect">
            <a:avLst/>
          </a:prstGeom>
        </p:spPr>
      </p:pic>
      <p:sp>
        <p:nvSpPr>
          <p:cNvPr id="18" name="Abschnittstitel"/>
          <p:cNvSpPr txBox="1"/>
          <p:nvPr/>
        </p:nvSpPr>
        <p:spPr>
          <a:xfrm>
            <a:off x="5047488" y="1783080"/>
            <a:ext cx="46634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262626"/>
                </a:solidFill>
                <a:latin typeface="MB Corpo A Title Cond Office" pitchFamily="34" charset="0"/>
                <a:ea typeface="MB Corpo A Title Cond Office" pitchFamily="34" charset="-122"/>
                <a:cs typeface="MB Corpo A Title Cond Office" pitchFamily="34" charset="-120"/>
              </a:rPr>
              <a:t>So gehen Sie vor</a:t>
            </a:r>
            <a:endParaRPr lang="en-US" sz="1100" dirty="0"/>
          </a:p>
        </p:txBody>
      </p:sp>
      <p:sp>
        <p:nvSpPr>
          <p:cNvPr id="19" name="Schritte"/>
          <p:cNvSpPr txBox="1"/>
          <p:nvPr/>
        </p:nvSpPr>
        <p:spPr>
          <a:xfrm>
            <a:off x="5065776" y="2057400"/>
            <a:ext cx="4645152" cy="8869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400"/>
              </a:spcAft>
              <a:buSzPct val="100000"/>
              <a:buFont typeface="+mj-lt"/>
              <a:buAutoNum type="arabicPeriod" startAt="1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Prüfen Sie in der 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Rollenmatrix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, ob Ihre Rolle die gewünschte Aktion ausführen darf.</a:t>
            </a:r>
            <a:endParaRPr lang="en-US" sz="900" dirty="0"/>
          </a:p>
          <a:p>
            <a:pPr marL="203200" indent="-203200">
              <a:spcAft>
                <a:spcPts val="400"/>
              </a:spcAft>
              <a:buSzPct val="100000"/>
              <a:buFont typeface="+mj-lt"/>
              <a:buAutoNum type="arabicPeriod" startAt="2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Lesen Sie in der 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Statusmatrix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, von welchem Status aus welcher Übergang zulässig ist (Kapitel 8.2).</a:t>
            </a:r>
            <a:endParaRPr lang="en-US" sz="900" dirty="0"/>
          </a:p>
          <a:p>
            <a:pPr marL="203200" indent="-203200">
              <a:spcAft>
                <a:spcPts val="400"/>
              </a:spcAft>
              <a:buSzPct val="100000"/>
              <a:buFont typeface="+mj-lt"/>
              <a:buAutoNum type="arabicPeriod" startAt="3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Prüfen Sie in der 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Scopematrix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, ob Markt, Sparte und Betrieb des Vorgangs zu Ihrem Zugang passen (Kapitel 2.4).</a:t>
            </a:r>
            <a:endParaRPr lang="en-US" sz="900" dirty="0"/>
          </a:p>
        </p:txBody>
      </p:sp>
      <p:sp>
        <p:nvSpPr>
          <p:cNvPr id="20" name="Warnhinweis"/>
          <p:cNvSpPr/>
          <p:nvPr/>
        </p:nvSpPr>
        <p:spPr>
          <a:xfrm>
            <a:off x="5047488" y="3054096"/>
            <a:ext cx="4663440" cy="612648"/>
          </a:xfrm>
          <a:prstGeom prst="roundRect">
            <a:avLst>
              <a:gd name="adj" fmla="val 11940"/>
            </a:avLst>
          </a:prstGeom>
          <a:solidFill>
            <a:srgbClr val="FFE0E1"/>
          </a:solidFill>
          <a:ln w="12700">
            <a:solidFill>
              <a:srgbClr val="EF5F64"/>
            </a:solidFill>
            <a:prstDash val="solid"/>
          </a:ln>
        </p:spPr>
      </p:sp>
      <p:sp>
        <p:nvSpPr>
          <p:cNvPr id="21" name="Warnzeichen"/>
          <p:cNvSpPr txBox="1"/>
          <p:nvPr/>
        </p:nvSpPr>
        <p:spPr>
          <a:xfrm>
            <a:off x="5120640" y="3054096"/>
            <a:ext cx="274320" cy="6126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EF5F64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!</a:t>
            </a:r>
            <a:endParaRPr lang="en-US" sz="1600" dirty="0"/>
          </a:p>
        </p:txBody>
      </p:sp>
      <p:sp>
        <p:nvSpPr>
          <p:cNvPr id="22" name="Warntext"/>
          <p:cNvSpPr txBox="1"/>
          <p:nvPr/>
        </p:nvSpPr>
        <p:spPr>
          <a:xfrm>
            <a:off x="5458968" y="3054096"/>
            <a:ext cx="4160520" cy="6126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B21E23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Die Matrizen sind die verbindliche Referenz für Berechtigungen und Statusübergänge.</a:t>
            </a:r>
            <a:r>
              <a:rPr lang="en-US" sz="900" dirty="0">
                <a:solidFill>
                  <a:srgbClr val="B21E23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Ein im System sichtbarer, aber nicht dokumentierter Übergang ist zu melden, nicht zu nutzen.</a:t>
            </a:r>
            <a:endParaRPr lang="en-US" sz="900" dirty="0"/>
          </a:p>
        </p:txBody>
      </p:sp>
      <p:sp>
        <p:nvSpPr>
          <p:cNvPr id="23" name="Schritte"/>
          <p:cNvSpPr txBox="1"/>
          <p:nvPr/>
        </p:nvSpPr>
        <p:spPr>
          <a:xfrm>
            <a:off x="5065776" y="3776472"/>
            <a:ext cx="4645152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400"/>
              </a:spcAft>
              <a:buSzPct val="100000"/>
              <a:buFont typeface="+mj-lt"/>
              <a:buAutoNum type="arabicPeriod" startAt="4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Fehlt ein Recht, beantragen Sie die Rolle über ALICE (Kapitel 2.3); fehlt ein Übergang, ist der Weg über Neuvertrag oder Support nötig.</a:t>
            </a:r>
            <a:endParaRPr lang="en-US" sz="900" dirty="0"/>
          </a:p>
          <a:p>
            <a:pPr marL="203200" indent="-203200">
              <a:spcAft>
                <a:spcPts val="400"/>
              </a:spcAft>
              <a:buSzPct val="100000"/>
              <a:buFont typeface="+mj-lt"/>
              <a:buAutoNum type="arabicPeriod" startAt="5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Melden Sie Abweichungen zwischen Matrix und System über das Klärungsregister (Anhang F).</a:t>
            </a:r>
            <a:endParaRPr lang="en-US" sz="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Hintergrund" descr="/tmp/claude-0/-home-user-step2-oneSCM/768b354c-b2c6-524c-b102-2abaf010b0fe/scratchpad/qg/src/stars_bg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906000" cy="6858000"/>
          </a:xfrm>
          <a:prstGeom prst="rect">
            <a:avLst/>
          </a:prstGeom>
        </p:spPr>
      </p:pic>
      <p:sp>
        <p:nvSpPr>
          <p:cNvPr id="3" name="Titel"/>
          <p:cNvSpPr txBox="1"/>
          <p:nvPr/>
        </p:nvSpPr>
        <p:spPr>
          <a:xfrm>
            <a:off x="201168" y="128016"/>
            <a:ext cx="7863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400" dirty="0">
                <a:solidFill>
                  <a:srgbClr val="262626"/>
                </a:solidFill>
                <a:latin typeface="MB Corpo A Title Cond Office" pitchFamily="34" charset="0"/>
                <a:ea typeface="MB Corpo A Title Cond Office" pitchFamily="34" charset="-122"/>
                <a:cs typeface="MB Corpo A Title Cond Office" pitchFamily="34" charset="-120"/>
              </a:rPr>
              <a:t>oneSCM – Anhang D.1: Rollen-/Status-/Scopematrizen</a:t>
            </a:r>
            <a:endParaRPr lang="en-US" sz="2400" dirty="0"/>
          </a:p>
        </p:txBody>
      </p:sp>
      <p:pic>
        <p:nvPicPr>
          <p:cNvPr id="4" name="Logo Stern" descr="/tmp/claude-0/-home-user-step2-oneSCM/768b354c-b2c6-524c-b102-2abaf010b0fe/scratchpad/qg/src/star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549640" y="118872"/>
            <a:ext cx="457200" cy="438912"/>
          </a:xfrm>
          <a:prstGeom prst="rect">
            <a:avLst/>
          </a:prstGeom>
        </p:spPr>
      </p:pic>
      <p:sp>
        <p:nvSpPr>
          <p:cNvPr id="5" name="Logo Text"/>
          <p:cNvSpPr txBox="1"/>
          <p:nvPr/>
        </p:nvSpPr>
        <p:spPr>
          <a:xfrm>
            <a:off x="9052560" y="109728"/>
            <a:ext cx="8229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0000"/>
              </a:lnSpc>
              <a:buNone/>
            </a:pPr>
            <a:r>
              <a:rPr lang="en-US" sz="1400" dirty="0">
                <a:solidFill>
                  <a:srgbClr val="262626"/>
                </a:solidFill>
                <a:latin typeface="MB Corpo A Title Cond Office" pitchFamily="34" charset="0"/>
                <a:ea typeface="MB Corpo A Title Cond Office" pitchFamily="34" charset="-122"/>
                <a:cs typeface="MB Corpo A Title Cond Office" pitchFamily="34" charset="-120"/>
              </a:rPr>
              <a:t>oneSCM</a:t>
            </a:r>
            <a:endParaRPr lang="en-US" sz="1400" dirty="0"/>
          </a:p>
          <a:p>
            <a:pPr indent="0" marL="0">
              <a:lnSpc>
                <a:spcPct val="90000"/>
              </a:lnSpc>
              <a:buNone/>
            </a:pPr>
            <a:r>
              <a:rPr lang="en-US" sz="1300" i="1" dirty="0">
                <a:solidFill>
                  <a:srgbClr val="B21E23"/>
                </a:solidFill>
                <a:latin typeface="MB Corpo A Title Cond Office" pitchFamily="34" charset="0"/>
                <a:ea typeface="MB Corpo A Title Cond Office" pitchFamily="34" charset="-122"/>
                <a:cs typeface="MB Corpo A Title Cond Office" pitchFamily="34" charset="-120"/>
              </a:rPr>
              <a:t>für Pkw</a:t>
            </a:r>
            <a:endParaRPr lang="en-US" sz="1400" dirty="0"/>
          </a:p>
        </p:txBody>
      </p:sp>
      <p:sp>
        <p:nvSpPr>
          <p:cNvPr id="6" name="Fußzeile Hinweis"/>
          <p:cNvSpPr txBox="1"/>
          <p:nvPr/>
        </p:nvSpPr>
        <p:spPr>
          <a:xfrm>
            <a:off x="201168" y="6510528"/>
            <a:ext cx="7498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Hinweis</a:t>
            </a:r>
            <a:r>
              <a:rPr lang="en-US" sz="8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: Dieser Quick Guide fasst Anhang D.1 des oneSCM-Handbuchs zusammen. Details, Bildschirmbilder und Nachweise finden Sie im Handbuch.</a:t>
            </a:r>
            <a:endParaRPr lang="en-US" sz="800" dirty="0"/>
          </a:p>
        </p:txBody>
      </p:sp>
      <p:sp>
        <p:nvSpPr>
          <p:cNvPr id="7" name="Stand"/>
          <p:cNvSpPr txBox="1"/>
          <p:nvPr/>
        </p:nvSpPr>
        <p:spPr>
          <a:xfrm>
            <a:off x="7772400" y="6510528"/>
            <a:ext cx="1920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00" spc="250" kern="0" dirty="0">
                <a:solidFill>
                  <a:srgbClr val="404040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STAND: 11.10.2026 | 2/2</a:t>
            </a:r>
            <a:endParaRPr lang="en-US" sz="700" dirty="0"/>
          </a:p>
        </p:txBody>
      </p:sp>
      <p:sp>
        <p:nvSpPr>
          <p:cNvPr id="8" name="Rollen und Voraussetzungen"/>
          <p:cNvSpPr/>
          <p:nvPr/>
        </p:nvSpPr>
        <p:spPr>
          <a:xfrm>
            <a:off x="201168" y="713232"/>
            <a:ext cx="4663440" cy="2112264"/>
          </a:xfrm>
          <a:prstGeom prst="roundRect">
            <a:avLst>
              <a:gd name="adj" fmla="val 4329"/>
            </a:avLst>
          </a:prstGeom>
          <a:solidFill>
            <a:srgbClr val="EFF8FF">
              <a:alpha val="70000"/>
            </a:srgbClr>
          </a:solidFill>
          <a:ln w="6350">
            <a:solidFill>
              <a:srgbClr val="00ADEF"/>
            </a:solidFill>
            <a:prstDash val="solid"/>
          </a:ln>
        </p:spPr>
      </p:sp>
      <p:sp>
        <p:nvSpPr>
          <p:cNvPr id="9" name="Kartentitel"/>
          <p:cNvSpPr txBox="1"/>
          <p:nvPr/>
        </p:nvSpPr>
        <p:spPr>
          <a:xfrm>
            <a:off x="310896" y="786384"/>
            <a:ext cx="4480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262626"/>
                </a:solidFill>
                <a:latin typeface="MB Corpo A Title Cond Office" pitchFamily="34" charset="0"/>
                <a:ea typeface="MB Corpo A Title Cond Office" pitchFamily="34" charset="-122"/>
                <a:cs typeface="MB Corpo A Title Cond Office" pitchFamily="34" charset="-120"/>
              </a:rPr>
              <a:t>Rollen und Voraussetzungen</a:t>
            </a:r>
            <a:endParaRPr lang="en-US" sz="1100" dirty="0"/>
          </a:p>
        </p:txBody>
      </p:sp>
      <p:sp>
        <p:nvSpPr>
          <p:cNvPr id="10" name="Karteninhalt"/>
          <p:cNvSpPr txBox="1"/>
          <p:nvPr/>
        </p:nvSpPr>
        <p:spPr>
          <a:xfrm>
            <a:off x="310896" y="1060704"/>
            <a:ext cx="4480560" cy="1709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Beteiligte Rollen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Alle Rollen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: eigene Rechte und Statusübergänge nachschlagen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MO/Markt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: Statusmatrix bei Prüfungen und Änderungen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HQ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: Matrizen pflegen</a:t>
            </a:r>
            <a:endParaRPr lang="en-US" sz="9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</a:t>
            </a:r>
            <a:endParaRPr lang="en-US" sz="9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Voraussetzungen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Rolle und Scope des eigenen Zugangs bekannt (Kapitel 2)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Aktueller Status des Vorgangs bekannt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Matrix in aktueller Version</a:t>
            </a:r>
            <a:endParaRPr lang="en-US" sz="900" dirty="0"/>
          </a:p>
        </p:txBody>
      </p:sp>
      <p:sp>
        <p:nvSpPr>
          <p:cNvPr id="11" name="Checkliste vor dem Abschluss"/>
          <p:cNvSpPr/>
          <p:nvPr/>
        </p:nvSpPr>
        <p:spPr>
          <a:xfrm>
            <a:off x="201168" y="2935224"/>
            <a:ext cx="4663440" cy="1197864"/>
          </a:xfrm>
          <a:prstGeom prst="roundRect">
            <a:avLst>
              <a:gd name="adj" fmla="val 7634"/>
            </a:avLst>
          </a:prstGeom>
          <a:solidFill>
            <a:srgbClr val="EFF8FF">
              <a:alpha val="70000"/>
            </a:srgbClr>
          </a:solidFill>
          <a:ln w="6350">
            <a:solidFill>
              <a:srgbClr val="00ADEF"/>
            </a:solidFill>
            <a:prstDash val="solid"/>
          </a:ln>
        </p:spPr>
      </p:sp>
      <p:sp>
        <p:nvSpPr>
          <p:cNvPr id="12" name="Kartentitel"/>
          <p:cNvSpPr txBox="1"/>
          <p:nvPr/>
        </p:nvSpPr>
        <p:spPr>
          <a:xfrm>
            <a:off x="310896" y="3008376"/>
            <a:ext cx="4480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262626"/>
                </a:solidFill>
                <a:latin typeface="MB Corpo A Title Cond Office" pitchFamily="34" charset="0"/>
                <a:ea typeface="MB Corpo A Title Cond Office" pitchFamily="34" charset="-122"/>
                <a:cs typeface="MB Corpo A Title Cond Office" pitchFamily="34" charset="-120"/>
              </a:rPr>
              <a:t>Checkliste vor dem Abschluss</a:t>
            </a:r>
            <a:endParaRPr lang="en-US" sz="1100" dirty="0"/>
          </a:p>
        </p:txBody>
      </p:sp>
      <p:sp>
        <p:nvSpPr>
          <p:cNvPr id="13" name="Karteninhalt"/>
          <p:cNvSpPr txBox="1"/>
          <p:nvPr/>
        </p:nvSpPr>
        <p:spPr>
          <a:xfrm>
            <a:off x="310896" y="3282696"/>
            <a:ext cx="4480560" cy="7955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☐  Rolle darf die Aktion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☐  Statusübergang ist zulässig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☐  Scope passt zum Vorgang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☐  Abweichung gemeldet</a:t>
            </a:r>
            <a:endParaRPr lang="en-US" sz="900" dirty="0"/>
          </a:p>
        </p:txBody>
      </p:sp>
      <p:sp>
        <p:nvSpPr>
          <p:cNvPr id="14" name="Hinweise und Stolpersteine"/>
          <p:cNvSpPr/>
          <p:nvPr/>
        </p:nvSpPr>
        <p:spPr>
          <a:xfrm>
            <a:off x="201168" y="4242816"/>
            <a:ext cx="4663440" cy="1014984"/>
          </a:xfrm>
          <a:prstGeom prst="roundRect">
            <a:avLst>
              <a:gd name="adj" fmla="val 9009"/>
            </a:avLst>
          </a:prstGeom>
          <a:solidFill>
            <a:srgbClr val="EFF8FF">
              <a:alpha val="70000"/>
            </a:srgbClr>
          </a:solidFill>
          <a:ln w="6350">
            <a:solidFill>
              <a:srgbClr val="00ADEF"/>
            </a:solidFill>
            <a:prstDash val="solid"/>
          </a:ln>
        </p:spPr>
      </p:sp>
      <p:sp>
        <p:nvSpPr>
          <p:cNvPr id="15" name="Kartentitel"/>
          <p:cNvSpPr txBox="1"/>
          <p:nvPr/>
        </p:nvSpPr>
        <p:spPr>
          <a:xfrm>
            <a:off x="310896" y="4315968"/>
            <a:ext cx="4480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262626"/>
                </a:solidFill>
                <a:latin typeface="MB Corpo A Title Cond Office" pitchFamily="34" charset="0"/>
                <a:ea typeface="MB Corpo A Title Cond Office" pitchFamily="34" charset="-122"/>
                <a:cs typeface="MB Corpo A Title Cond Office" pitchFamily="34" charset="-120"/>
              </a:rPr>
              <a:t>Hinweise und Stolpersteine</a:t>
            </a:r>
            <a:endParaRPr lang="en-US" sz="1100" dirty="0"/>
          </a:p>
        </p:txBody>
      </p:sp>
      <p:sp>
        <p:nvSpPr>
          <p:cNvPr id="16" name="Karteninhalt"/>
          <p:cNvSpPr txBox="1"/>
          <p:nvPr/>
        </p:nvSpPr>
        <p:spPr>
          <a:xfrm>
            <a:off x="310896" y="4590288"/>
            <a:ext cx="4480560" cy="6126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Antrags-, Signatur- und Vertragsstatus sind getrennte Matrizen (Kapitel 3.8).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Scope-Einschränkungen erklären, warum Vorgänge in der Suche fehlen (Kapitel 3.2).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Die Matrizen sind Grundlage der Rollenschulung (Kapitel 17).</a:t>
            </a:r>
            <a:endParaRPr lang="en-US" sz="900" dirty="0"/>
          </a:p>
        </p:txBody>
      </p:sp>
      <p:sp>
        <p:nvSpPr>
          <p:cNvPr id="17" name="FAQ"/>
          <p:cNvSpPr/>
          <p:nvPr/>
        </p:nvSpPr>
        <p:spPr>
          <a:xfrm>
            <a:off x="5047488" y="713232"/>
            <a:ext cx="4663440" cy="1399032"/>
          </a:xfrm>
          <a:prstGeom prst="roundRect">
            <a:avLst>
              <a:gd name="adj" fmla="val 6536"/>
            </a:avLst>
          </a:prstGeom>
          <a:solidFill>
            <a:srgbClr val="EFF8FF">
              <a:alpha val="70000"/>
            </a:srgbClr>
          </a:solidFill>
          <a:ln w="6350">
            <a:solidFill>
              <a:srgbClr val="00ADEF"/>
            </a:solidFill>
            <a:prstDash val="solid"/>
          </a:ln>
        </p:spPr>
      </p:sp>
      <p:sp>
        <p:nvSpPr>
          <p:cNvPr id="18" name="FAQ Inhalt"/>
          <p:cNvSpPr txBox="1"/>
          <p:nvPr/>
        </p:nvSpPr>
        <p:spPr>
          <a:xfrm>
            <a:off x="5157216" y="786384"/>
            <a:ext cx="4443984" cy="1271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Häufig gestellte Fragen und Antworten</a:t>
            </a:r>
            <a:endParaRPr lang="en-US" sz="9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Warum kann ich einen Antrag nicht aktivieren?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Aktivierung ist dem MO bzw. dem System vorbehalten; siehe Rollenmatrix und Kapitel 8.4.</a:t>
            </a:r>
            <a:endParaRPr lang="en-US" sz="9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Welche Übergänge gibt es aus „abgelehnt“?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Wiederaufnahme nach Korrektur (Kapitel 8.7); siehe Statusmatrix.</a:t>
            </a:r>
            <a:endParaRPr lang="en-US" sz="9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Warum sehe ich Verträge eines anderen Betriebs nicht?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Der Scope begrenzt die Sichtbarkeit auf Ihren Betrieb und Markt.</a:t>
            </a:r>
            <a:endParaRPr lang="en-US" sz="900" dirty="0"/>
          </a:p>
        </p:txBody>
      </p:sp>
      <p:sp>
        <p:nvSpPr>
          <p:cNvPr id="19" name="Wichtige Links und Ansprechpartner"/>
          <p:cNvSpPr/>
          <p:nvPr/>
        </p:nvSpPr>
        <p:spPr>
          <a:xfrm>
            <a:off x="5047488" y="2221992"/>
            <a:ext cx="4663440" cy="1490472"/>
          </a:xfrm>
          <a:prstGeom prst="roundRect">
            <a:avLst>
              <a:gd name="adj" fmla="val 6135"/>
            </a:avLst>
          </a:prstGeom>
          <a:solidFill>
            <a:srgbClr val="EFF8FF">
              <a:alpha val="70000"/>
            </a:srgbClr>
          </a:solidFill>
          <a:ln w="6350">
            <a:solidFill>
              <a:srgbClr val="00ADEF"/>
            </a:solidFill>
            <a:prstDash val="solid"/>
          </a:ln>
        </p:spPr>
      </p:sp>
      <p:sp>
        <p:nvSpPr>
          <p:cNvPr id="20" name="Kartentitel"/>
          <p:cNvSpPr txBox="1"/>
          <p:nvPr/>
        </p:nvSpPr>
        <p:spPr>
          <a:xfrm>
            <a:off x="5157216" y="2295144"/>
            <a:ext cx="4480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262626"/>
                </a:solidFill>
                <a:latin typeface="MB Corpo A Title Cond Office" pitchFamily="34" charset="0"/>
                <a:ea typeface="MB Corpo A Title Cond Office" pitchFamily="34" charset="-122"/>
                <a:cs typeface="MB Corpo A Title Cond Office" pitchFamily="34" charset="-120"/>
              </a:rPr>
              <a:t>Wichtige Links und Ansprechpartner</a:t>
            </a:r>
            <a:endParaRPr lang="en-US" sz="1100" dirty="0"/>
          </a:p>
        </p:txBody>
      </p:sp>
      <p:sp>
        <p:nvSpPr>
          <p:cNvPr id="21" name="Karteninhalt"/>
          <p:cNvSpPr txBox="1"/>
          <p:nvPr/>
        </p:nvSpPr>
        <p:spPr>
          <a:xfrm>
            <a:off x="5157216" y="2569464"/>
            <a:ext cx="4480560" cy="10881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u="sng" dirty="0">
                <a:solidFill>
                  <a:srgbClr val="00ADEF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Rollen-/Status-/Scopematrizen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– Anhang D.1.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u="sng" dirty="0">
                <a:solidFill>
                  <a:srgbClr val="00ADEF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ALICE – Berechtigungsmanagement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– Kapitel 19.16.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u="sng" dirty="0">
                <a:solidFill>
                  <a:srgbClr val="00ADEF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Handbuch oneSCM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– Vollständige Kapitel mit Bildschirmbildern, Rollen-, Status- und Scopematrizen (Anhang D).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Support und Eskalation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– Supportfall mit Referenznummer, Markt, Sparte und Bildschirmbild melden (Kapitel 23.4 und 23.5).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</vt:i4>
      </vt:variant>
    </vt:vector>
  </HeadingPairs>
  <TitlesOfParts>
    <vt:vector size="5" baseType="lpstr">
      <vt:lpstr>Arial</vt:lpstr>
      <vt:lpstr>Calibri</vt:lpstr>
      <vt:lpstr>Office Theme</vt:lpstr>
      <vt:lpstr>Slide 1</vt:lpstr>
      <vt:lpstr>Slide 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oneSCM – Anhang D.1: Rollen-/Status-/Scopematrizen</dc:title>
  <dc:subject>PptxGenJS Presentation</dc:subject>
  <dc:creator>oneSCM Quick Guide</dc:creator>
  <cp:lastModifiedBy>oneSCM Quick Guide</cp:lastModifiedBy>
  <cp:revision>1</cp:revision>
  <dcterms:created xsi:type="dcterms:W3CDTF">2026-10-11T15:41:03Z</dcterms:created>
  <dcterms:modified xsi:type="dcterms:W3CDTF">2026-10-11T15:41:03Z</dcterms:modified>
</cp:coreProperties>
</file>