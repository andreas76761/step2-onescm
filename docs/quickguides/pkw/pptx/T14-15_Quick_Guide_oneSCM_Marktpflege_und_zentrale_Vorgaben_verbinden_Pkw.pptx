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906000" cy="6858000"/>
  <p:notesSz cx="6858000" cy="990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T14-15: Marktpflege und zentrale Vorgaben verbinden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Pkw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Übergangsmodul T14-15 des oneSCM-Handbuchs zusammen. Details, Bildschirmbilder und Nachweise finden Sie im Handbuch.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1/2</a:t>
            </a:r>
            <a:endParaRPr lang="en-US" sz="700" dirty="0"/>
          </a:p>
        </p:txBody>
      </p:sp>
      <p:sp>
        <p:nvSpPr>
          <p:cNvPr id="8" name="Ziel und Nutzen"/>
          <p:cNvSpPr/>
          <p:nvPr/>
        </p:nvSpPr>
        <p:spPr>
          <a:xfrm>
            <a:off x="201168" y="713232"/>
            <a:ext cx="4663440" cy="1426464"/>
          </a:xfrm>
          <a:prstGeom prst="roundRect">
            <a:avLst>
              <a:gd name="adj" fmla="val 6410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Ziel und Nutzen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263347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Dieses Modul verbindet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Marktpflege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Kapitel 14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) mit den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zentralen Vorgaben des HQ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Kapitel 15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). Sie wissen, welche Pflegeentscheidung der Markt allein trifft, welche eine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HQ-Freigabe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braucht und wie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Länderabweichungen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beantragt werden.</a:t>
            </a:r>
            <a:endParaRPr lang="en-US" sz="900" dirty="0"/>
          </a:p>
        </p:txBody>
      </p:sp>
      <p:pic>
        <p:nvPicPr>
          <p:cNvPr id="11" name="Kapitelbild" descr="/tmp/claude-0/-home-user-step2-oneSCM/768b354c-b2c6-524c-b102-2abaf010b0fe/scratchpad/qg/src/img/badge_T14-15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5808" y="804672"/>
            <a:ext cx="1737360" cy="1051560"/>
          </a:xfrm>
          <a:prstGeom prst="rect">
            <a:avLst/>
          </a:prstGeom>
        </p:spPr>
      </p:pic>
      <p:sp>
        <p:nvSpPr>
          <p:cNvPr id="12" name="Hinweis"/>
          <p:cNvSpPr txBox="1"/>
          <p:nvPr/>
        </p:nvSpPr>
        <p:spPr>
          <a:xfrm>
            <a:off x="201168" y="2249424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Dieses Dokument ist interaktiv – Verweise auf Handbuchkapitel und Systeme sind als Links hinterlegt.</a:t>
            </a:r>
            <a:endParaRPr lang="en-US" sz="900" dirty="0"/>
          </a:p>
        </p:txBody>
      </p:sp>
      <p:sp>
        <p:nvSpPr>
          <p:cNvPr id="13" name="Überblick Titel"/>
          <p:cNvSpPr txBox="1"/>
          <p:nvPr/>
        </p:nvSpPr>
        <p:spPr>
          <a:xfrm>
            <a:off x="201168" y="2688336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Übergang im Überblick</a:t>
            </a:r>
            <a:endParaRPr lang="en-US" sz="1100" dirty="0"/>
          </a:p>
        </p:txBody>
      </p:sp>
      <p:sp>
        <p:nvSpPr>
          <p:cNvPr id="14" name="Überblick Spalte"/>
          <p:cNvSpPr txBox="1"/>
          <p:nvPr/>
        </p:nvSpPr>
        <p:spPr>
          <a:xfrm>
            <a:off x="201168" y="2962656"/>
            <a:ext cx="224028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Markt entscheidet (Kapitel 14)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Marktspezifische Einstellungen und Vorlagen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Preisversionen, Kampagnen, Rabatte im Blueprint-Rahmen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Product Testing und Veröffentlichung</a:t>
            </a:r>
            <a:endParaRPr lang="en-US" sz="900" dirty="0"/>
          </a:p>
        </p:txBody>
      </p:sp>
      <p:sp>
        <p:nvSpPr>
          <p:cNvPr id="15" name="Überblick Spalte"/>
          <p:cNvSpPr txBox="1"/>
          <p:nvPr/>
        </p:nvSpPr>
        <p:spPr>
          <a:xfrm>
            <a:off x="2624328" y="2962656"/>
            <a:ext cx="224028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HQ entscheidet (Kapitel 15)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Blueprint und globale Standards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Länderabweichungen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Technical Options, SA-Matching, Coverage-Codes</a:t>
            </a:r>
            <a:endParaRPr lang="en-US" sz="900" dirty="0"/>
          </a:p>
        </p:txBody>
      </p:sp>
      <p:pic>
        <p:nvPicPr>
          <p:cNvPr id="16" name="Prozessbild" descr="/tmp/claude-0/-home-user-step2-oneSCM/768b354c-b2c6-524c-b102-2abaf010b0fe/scratchpad/qg/src/img/landscape_T14-15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168" y="4242816"/>
            <a:ext cx="4663440" cy="1207008"/>
          </a:xfrm>
          <a:prstGeom prst="rect">
            <a:avLst/>
          </a:prstGeom>
        </p:spPr>
      </p:pic>
      <p:pic>
        <p:nvPicPr>
          <p:cNvPr id="17" name="Prozessbild" descr="/tmp/claude-0/-home-user-step2-oneSCM/768b354c-b2c6-524c-b102-2abaf010b0fe/scratchpad/qg/src/img/flow_T14-15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7488" y="713232"/>
            <a:ext cx="4663440" cy="960120"/>
          </a:xfrm>
          <a:prstGeom prst="rect">
            <a:avLst/>
          </a:prstGeom>
        </p:spPr>
      </p:pic>
      <p:sp>
        <p:nvSpPr>
          <p:cNvPr id="18" name="Abschnittstitel"/>
          <p:cNvSpPr txBox="1"/>
          <p:nvPr/>
        </p:nvSpPr>
        <p:spPr>
          <a:xfrm>
            <a:off x="5047488" y="178308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So gehen Sie vor</a:t>
            </a:r>
            <a:endParaRPr lang="en-US" sz="1100" dirty="0"/>
          </a:p>
        </p:txBody>
      </p:sp>
      <p:sp>
        <p:nvSpPr>
          <p:cNvPr id="19" name="Schritte"/>
          <p:cNvSpPr txBox="1"/>
          <p:nvPr/>
        </p:nvSpPr>
        <p:spPr>
          <a:xfrm>
            <a:off x="5065776" y="2057400"/>
            <a:ext cx="4645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Ordnen Sie die geplante Änderung ein: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im Blueprint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(Markt entscheidet) oder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Abweichung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(HQ-Freigabe nötig).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2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Bereiten Sie die Änderung im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Product Testing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vor und sichern Sie Testnachweise (Kapitel 14.12, 16.4).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3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Beantragen Sie eine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Länderabweichung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mit Begründung beim HQ (Kapitel 15.3) und tragen Sie sie ins Register ein (Kapitel 20.6).</a:t>
            </a:r>
            <a:endParaRPr lang="en-US" sz="900" dirty="0"/>
          </a:p>
        </p:txBody>
      </p:sp>
      <p:sp>
        <p:nvSpPr>
          <p:cNvPr id="20" name="Warnhinweis"/>
          <p:cNvSpPr/>
          <p:nvPr/>
        </p:nvSpPr>
        <p:spPr>
          <a:xfrm>
            <a:off x="5047488" y="3191256"/>
            <a:ext cx="4663440" cy="475488"/>
          </a:xfrm>
          <a:prstGeom prst="roundRect">
            <a:avLst>
              <a:gd name="adj" fmla="val 15385"/>
            </a:avLst>
          </a:prstGeom>
          <a:solidFill>
            <a:srgbClr val="FFE0E1"/>
          </a:solidFill>
          <a:ln w="12700">
            <a:solidFill>
              <a:srgbClr val="EF5F64"/>
            </a:solidFill>
            <a:prstDash val="solid"/>
          </a:ln>
        </p:spPr>
      </p:sp>
      <p:sp>
        <p:nvSpPr>
          <p:cNvPr id="21" name="Warnzeichen"/>
          <p:cNvSpPr txBox="1"/>
          <p:nvPr/>
        </p:nvSpPr>
        <p:spPr>
          <a:xfrm>
            <a:off x="5120640" y="3191256"/>
            <a:ext cx="274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5F64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!</a:t>
            </a:r>
            <a:endParaRPr lang="en-US" sz="1600" dirty="0"/>
          </a:p>
        </p:txBody>
      </p:sp>
      <p:sp>
        <p:nvSpPr>
          <p:cNvPr id="22" name="Warntext"/>
          <p:cNvSpPr txBox="1"/>
          <p:nvPr/>
        </p:nvSpPr>
        <p:spPr>
          <a:xfrm>
            <a:off x="5458968" y="3191256"/>
            <a:ext cx="4160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Keine Veröffentlichung einer Abweichung vor der HQ-Freigabe.</a:t>
            </a:r>
            <a:r>
              <a:rPr lang="en-US" sz="900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Nicht freigegebene Abweichungen gelten als Blueprint-Verstoß und werden zurückgenommen.</a:t>
            </a:r>
            <a:endParaRPr lang="en-US" sz="900" dirty="0"/>
          </a:p>
        </p:txBody>
      </p:sp>
      <p:sp>
        <p:nvSpPr>
          <p:cNvPr id="23" name="Schritte"/>
          <p:cNvSpPr txBox="1"/>
          <p:nvPr/>
        </p:nvSpPr>
        <p:spPr>
          <a:xfrm>
            <a:off x="5065776" y="3776472"/>
            <a:ext cx="46451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4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Warten Sie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HQ-Freigabe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ab, bevor Sie veröffentlichen (Kapitel 14.7 und 15.4).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5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Informieren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MO und Dealer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über wirksame Änderungen (Kapitel 15.5).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T14-15: Marktpflege und zentrale Vorgaben verbinden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Pkw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Übergangsmodul T14-15 des oneSCM-Handbuchs zusammen. Details, Bildschirmbilder und Nachweise finden Sie im Handbuch.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2/2</a:t>
            </a:r>
            <a:endParaRPr lang="en-US" sz="700" dirty="0"/>
          </a:p>
        </p:txBody>
      </p:sp>
      <p:sp>
        <p:nvSpPr>
          <p:cNvPr id="8" name="Rollen und Voraussetzungen"/>
          <p:cNvSpPr/>
          <p:nvPr/>
        </p:nvSpPr>
        <p:spPr>
          <a:xfrm>
            <a:off x="201168" y="713232"/>
            <a:ext cx="4663440" cy="2112264"/>
          </a:xfrm>
          <a:prstGeom prst="roundRect">
            <a:avLst>
              <a:gd name="adj" fmla="val 432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Rollen und Voraussetzungen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4480560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Beteiligte Rollen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Pflege und Antrag auf Abweichung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HQ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Blueprint, Freigabe, zentrale Stammdaten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MO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Rückmeldung aus der Prüfung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Voraussetzungen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Marktrolle mit Pflegerechten (Kapitel 14.1)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Blueprint und Länderabweichungsregister bekannt (Kapitel 15.2, 20.6)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Freigabeworkflow geklärt (Kapitel 16.3)</a:t>
            </a:r>
            <a:endParaRPr lang="en-US" sz="900" dirty="0"/>
          </a:p>
        </p:txBody>
      </p:sp>
      <p:sp>
        <p:nvSpPr>
          <p:cNvPr id="11" name="Checkliste vor dem Abschluss"/>
          <p:cNvSpPr/>
          <p:nvPr/>
        </p:nvSpPr>
        <p:spPr>
          <a:xfrm>
            <a:off x="201168" y="2935224"/>
            <a:ext cx="4663440" cy="1197864"/>
          </a:xfrm>
          <a:prstGeom prst="roundRect">
            <a:avLst>
              <a:gd name="adj" fmla="val 763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2" name="Kartentitel"/>
          <p:cNvSpPr txBox="1"/>
          <p:nvPr/>
        </p:nvSpPr>
        <p:spPr>
          <a:xfrm>
            <a:off x="310896" y="3008376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Checkliste vor dem Abschluss</a:t>
            </a:r>
            <a:endParaRPr lang="en-US" sz="1100" dirty="0"/>
          </a:p>
        </p:txBody>
      </p:sp>
      <p:sp>
        <p:nvSpPr>
          <p:cNvPr id="13" name="Karteninhalt"/>
          <p:cNvSpPr txBox="1"/>
          <p:nvPr/>
        </p:nvSpPr>
        <p:spPr>
          <a:xfrm>
            <a:off x="310896" y="3282696"/>
            <a:ext cx="448056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Änderung als Blueprint oder Abweichung eingeordnet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Testnachweis vorhanden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Abweichung beantragt und registriert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Freigabe vor Veröffentlichung abgewartet</a:t>
            </a:r>
            <a:endParaRPr lang="en-US" sz="900" dirty="0"/>
          </a:p>
        </p:txBody>
      </p:sp>
      <p:sp>
        <p:nvSpPr>
          <p:cNvPr id="14" name="Hinweise und Stolpersteine"/>
          <p:cNvSpPr/>
          <p:nvPr/>
        </p:nvSpPr>
        <p:spPr>
          <a:xfrm>
            <a:off x="201168" y="4242816"/>
            <a:ext cx="4663440" cy="1014984"/>
          </a:xfrm>
          <a:prstGeom prst="roundRect">
            <a:avLst>
              <a:gd name="adj" fmla="val 900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5" name="Kartentitel"/>
          <p:cNvSpPr txBox="1"/>
          <p:nvPr/>
        </p:nvSpPr>
        <p:spPr>
          <a:xfrm>
            <a:off x="310896" y="431596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Hinweise und Stolpersteine</a:t>
            </a:r>
            <a:endParaRPr lang="en-US" sz="1100" dirty="0"/>
          </a:p>
        </p:txBody>
      </p:sp>
      <p:sp>
        <p:nvSpPr>
          <p:cNvPr id="16" name="Karteninhalt"/>
          <p:cNvSpPr txBox="1"/>
          <p:nvPr/>
        </p:nvSpPr>
        <p:spPr>
          <a:xfrm>
            <a:off x="310896" y="4590288"/>
            <a:ext cx="448056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Das Gegenstück T15-14 beschreibt die Übergabe zentraler Grundlagen an den Markt.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Coverage-Codes und Technical Options wirken auf alle Märkte (Kapitel 15.7).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Freigaben werden im Klärungsregister nachvollziehbar gehalten (Anhang F).</a:t>
            </a:r>
            <a:endParaRPr lang="en-US" sz="900" dirty="0"/>
          </a:p>
        </p:txBody>
      </p:sp>
      <p:sp>
        <p:nvSpPr>
          <p:cNvPr id="17" name="FAQ"/>
          <p:cNvSpPr/>
          <p:nvPr/>
        </p:nvSpPr>
        <p:spPr>
          <a:xfrm>
            <a:off x="5047488" y="713232"/>
            <a:ext cx="4663440" cy="1399032"/>
          </a:xfrm>
          <a:prstGeom prst="roundRect">
            <a:avLst>
              <a:gd name="adj" fmla="val 6536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8" name="FAQ Inhalt"/>
          <p:cNvSpPr txBox="1"/>
          <p:nvPr/>
        </p:nvSpPr>
        <p:spPr>
          <a:xfrm>
            <a:off x="5157216" y="786384"/>
            <a:ext cx="4443984" cy="1271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Häufig gestellte Fragen und Antworten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Darf der Markt eine Kampagne ohne HQ anlegen?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Ja, innerhalb des Blueprints (Kapitel 14.13); abweichende Konditionen brauchen HQ-Freigabe.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Wie lange dauert eine HQ-Freigabe?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Nach dem Governance-Prozess des HQ (Kapitel 15.4); der Status steht im Register.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Was passiert bei Ablehnung?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Die Änderung bleibt unveröffentlicht; der Markt kann mit neuer Begründung erneut beantragen.</a:t>
            </a:r>
            <a:endParaRPr lang="en-US" sz="900" dirty="0"/>
          </a:p>
        </p:txBody>
      </p:sp>
      <p:sp>
        <p:nvSpPr>
          <p:cNvPr id="19" name="Wichtige Links und Ansprechpartner"/>
          <p:cNvSpPr/>
          <p:nvPr/>
        </p:nvSpPr>
        <p:spPr>
          <a:xfrm>
            <a:off x="5047488" y="2221992"/>
            <a:ext cx="4663440" cy="1344168"/>
          </a:xfrm>
          <a:prstGeom prst="roundRect">
            <a:avLst>
              <a:gd name="adj" fmla="val 6803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20" name="Kartentitel"/>
          <p:cNvSpPr txBox="1"/>
          <p:nvPr/>
        </p:nvSpPr>
        <p:spPr>
          <a:xfrm>
            <a:off x="5157216" y="229514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Wichtige Links und Ansprechpartner</a:t>
            </a:r>
            <a:endParaRPr lang="en-US" sz="1100" dirty="0"/>
          </a:p>
        </p:txBody>
      </p:sp>
      <p:sp>
        <p:nvSpPr>
          <p:cNvPr id="21" name="Karteninhalt"/>
          <p:cNvSpPr txBox="1"/>
          <p:nvPr/>
        </p:nvSpPr>
        <p:spPr>
          <a:xfrm>
            <a:off x="5157216" y="2569464"/>
            <a:ext cx="448056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Kapitel 14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Marktrolle, Produkt- und Preispflege.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Kapitel 15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HQ-Rolle, Blueprint und zentrale Stammdaten.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Länderabweichungsregister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Kapitel 20.6.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Handbuch oneSCM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Vollständige Kapitel mit Bildschirmbildern, Rollen-, Status- und Scopematrizen (Anhang D).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oneSCM – T14-15: Marktpflege und zentrale Vorgaben verbinden</dc:title>
  <dc:subject>PptxGenJS Presentation</dc:subject>
  <dc:creator>oneSCM Quick Guide</dc:creator>
  <cp:lastModifiedBy>oneSCM Quick Guide</cp:lastModifiedBy>
  <cp:revision>1</cp:revision>
  <dcterms:created xsi:type="dcterms:W3CDTF">2026-10-11T15:41:04Z</dcterms:created>
  <dcterms:modified xsi:type="dcterms:W3CDTF">2026-10-11T15:41:04Z</dcterms:modified>
</cp:coreProperties>
</file>